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Economica"/>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DB00E5-4830-42CE-BF0C-D32D79E257A4}">
  <a:tblStyle styleId="{DADB00E5-4830-42CE-BF0C-D32D79E257A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5E01E76-4A0D-48A9-99F5-58231DABA9F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Economica-bold.fntdata"/><Relationship Id="rId27" Type="http://schemas.openxmlformats.org/officeDocument/2006/relationships/font" Target="fonts/Economic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Economica-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regular.fntdata"/><Relationship Id="rId30" Type="http://schemas.openxmlformats.org/officeDocument/2006/relationships/font" Target="fonts/Economica-boldItalic.fntdata"/><Relationship Id="rId11" Type="http://schemas.openxmlformats.org/officeDocument/2006/relationships/slide" Target="slides/slide5.xml"/><Relationship Id="rId33" Type="http://schemas.openxmlformats.org/officeDocument/2006/relationships/font" Target="fonts/OpenSans-italic.fntdata"/><Relationship Id="rId10" Type="http://schemas.openxmlformats.org/officeDocument/2006/relationships/slide" Target="slides/slide4.xml"/><Relationship Id="rId32" Type="http://schemas.openxmlformats.org/officeDocument/2006/relationships/font" Target="fonts/OpenSans-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a85252fd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a85252fd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a85252fd2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a85252fd2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a85252fd2_1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a85252fd2_1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a85252fd2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a85252fd2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a85252fd2_1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a85252fd2_1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a85252fd2_1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a85252fd2_1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a95ab55b2_5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a95ab55b2_5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a85252fd2_1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a85252fd2_1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a95ab55b2_5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a95ab55b2_5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ba0e7f7b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ba0e7f7b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ba8b1cfc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ba8b1cfc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a85252fd2_1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a85252fd2_1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a95ab55b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a95ab55b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a95ab55b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a95ab55b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a95ab55b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a95ab55b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a85252fd2_1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a85252fd2_1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592725" y="888675"/>
            <a:ext cx="4084200" cy="2120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sz="4700"/>
              <a:t>Predicting Chronic Kidney Disease and Key Factors</a:t>
            </a:r>
            <a:endParaRPr b="1" sz="4700"/>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en"/>
              <a:t>AMS 572 Data Analysis</a:t>
            </a:r>
            <a:endParaRPr/>
          </a:p>
          <a:p>
            <a:pPr indent="0" lvl="0" marL="0" rtl="0" algn="ctr">
              <a:spcBef>
                <a:spcPts val="0"/>
              </a:spcBef>
              <a:spcAft>
                <a:spcPts val="0"/>
              </a:spcAft>
              <a:buNone/>
            </a:pPr>
            <a:r>
              <a:rPr lang="en"/>
              <a:t>By Alan Rodriguez, Xiaoyan Lin, Yeonbi Han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nvSpPr>
        <p:spPr>
          <a:xfrm>
            <a:off x="311700" y="447700"/>
            <a:ext cx="8520600" cy="10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dk1"/>
                </a:solidFill>
                <a:latin typeface="Economica"/>
                <a:ea typeface="Economica"/>
                <a:cs typeface="Economica"/>
                <a:sym typeface="Economica"/>
              </a:rPr>
              <a:t>Background, Motivation, and Project Objectives</a:t>
            </a:r>
            <a:endParaRPr b="1" sz="2800">
              <a:solidFill>
                <a:schemeClr val="dk1"/>
              </a:solidFill>
              <a:latin typeface="Economica"/>
              <a:ea typeface="Economica"/>
              <a:cs typeface="Economica"/>
              <a:sym typeface="Economica"/>
            </a:endParaRPr>
          </a:p>
        </p:txBody>
      </p:sp>
      <p:sp>
        <p:nvSpPr>
          <p:cNvPr id="69" name="Google Shape;69;p14"/>
          <p:cNvSpPr txBox="1"/>
          <p:nvPr>
            <p:ph idx="1" type="body"/>
          </p:nvPr>
        </p:nvSpPr>
        <p:spPr>
          <a:xfrm>
            <a:off x="311700" y="1120450"/>
            <a:ext cx="8584800" cy="36897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SzPts val="1400"/>
              <a:buFont typeface="Open Sans"/>
              <a:buChar char="●"/>
            </a:pPr>
            <a:r>
              <a:rPr lang="en"/>
              <a:t>Chronic Kidney Disease (CKD) is a progressive condition that often develops without noticeable symptoms, leading many patients to be diagnosed only after significant kidney damage has occurred.</a:t>
            </a:r>
            <a:endParaRPr/>
          </a:p>
          <a:p>
            <a:pPr indent="-317500" lvl="0" marL="457200" rtl="0" algn="l">
              <a:spcBef>
                <a:spcPts val="1200"/>
              </a:spcBef>
              <a:spcAft>
                <a:spcPts val="0"/>
              </a:spcAft>
              <a:buSzPts val="1400"/>
              <a:buFont typeface="Open Sans"/>
              <a:buChar char="●"/>
            </a:pPr>
            <a:r>
              <a:rPr lang="en"/>
              <a:t>CKD is closely associated with severe complications—such as cardiovascular events, anemia, and end-stage renal failure—making early detection and risk stratification clinically essential.</a:t>
            </a:r>
            <a:endParaRPr/>
          </a:p>
          <a:p>
            <a:pPr indent="-317500" lvl="0" marL="457200" rtl="0" algn="l">
              <a:spcBef>
                <a:spcPts val="1200"/>
              </a:spcBef>
              <a:spcAft>
                <a:spcPts val="0"/>
              </a:spcAft>
              <a:buSzPts val="1400"/>
              <a:buFont typeface="Open Sans"/>
              <a:buChar char="●"/>
            </a:pPr>
            <a:r>
              <a:rPr lang="en"/>
              <a:t>Real-world CKD datasets are highly heterogeneous, containing a mix of continuous and categorical variables as well as substantial and uneven missingness across features.</a:t>
            </a:r>
            <a:endParaRPr/>
          </a:p>
          <a:p>
            <a:pPr indent="-317500" lvl="0" marL="457200" rtl="0" algn="l">
              <a:spcBef>
                <a:spcPts val="1200"/>
              </a:spcBef>
              <a:spcAft>
                <a:spcPts val="0"/>
              </a:spcAft>
              <a:buSzPts val="1400"/>
              <a:buFont typeface="Open Sans"/>
              <a:buChar char="●"/>
            </a:pPr>
            <a:r>
              <a:rPr lang="en"/>
              <a:t>These characteristics create significant analytical challenges but also highlight the need for reliable statistical methods and robust predictive modeling techniques.</a:t>
            </a:r>
            <a:endParaRPr/>
          </a:p>
          <a:p>
            <a:pPr indent="0" lvl="0" marL="0" rtl="0" algn="l">
              <a:spcBef>
                <a:spcPts val="1200"/>
              </a:spcBef>
              <a:spcAft>
                <a:spcPts val="1000"/>
              </a:spcAft>
              <a:buSzPts val="1100"/>
              <a:buNone/>
            </a:pPr>
            <a:r>
              <a:rPr b="1" lang="en">
                <a:solidFill>
                  <a:srgbClr val="CC0000"/>
                </a:solidFill>
              </a:rPr>
              <a:t>→ The goal of this project is to evaluate key clinical factors associated with CKD and to develop prediction models that remain stable even under MCAR and MNAR missing-data conditions.</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47925" y="87325"/>
            <a:ext cx="84021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2800"/>
              <a:t>Dataset Description and Variable Summary (n=400, p=25)</a:t>
            </a:r>
            <a:endParaRPr b="1" sz="2800"/>
          </a:p>
        </p:txBody>
      </p:sp>
      <p:sp>
        <p:nvSpPr>
          <p:cNvPr id="75" name="Google Shape;75;p15"/>
          <p:cNvSpPr txBox="1"/>
          <p:nvPr/>
        </p:nvSpPr>
        <p:spPr>
          <a:xfrm>
            <a:off x="295275" y="1003525"/>
            <a:ext cx="5123400" cy="3949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Economica"/>
              <a:buChar char="●"/>
            </a:pPr>
            <a:r>
              <a:rPr b="1" lang="en">
                <a:solidFill>
                  <a:schemeClr val="dk1"/>
                </a:solidFill>
                <a:latin typeface="Open Sans"/>
                <a:ea typeface="Open Sans"/>
                <a:cs typeface="Open Sans"/>
                <a:sym typeface="Open Sans"/>
              </a:rPr>
              <a:t>400 patients</a:t>
            </a:r>
            <a:r>
              <a:rPr lang="en">
                <a:solidFill>
                  <a:schemeClr val="dk1"/>
                </a:solidFill>
                <a:latin typeface="Open Sans"/>
                <a:ea typeface="Open Sans"/>
                <a:cs typeface="Open Sans"/>
                <a:sym typeface="Open Sans"/>
              </a:rPr>
              <a:t>, </a:t>
            </a:r>
            <a:r>
              <a:rPr b="1" lang="en">
                <a:solidFill>
                  <a:schemeClr val="dk1"/>
                </a:solidFill>
                <a:latin typeface="Open Sans"/>
                <a:ea typeface="Open Sans"/>
                <a:cs typeface="Open Sans"/>
                <a:sym typeface="Open Sans"/>
              </a:rPr>
              <a:t>25 clinical variables</a:t>
            </a:r>
            <a:r>
              <a:rPr lang="en">
                <a:solidFill>
                  <a:schemeClr val="dk1"/>
                </a:solidFill>
                <a:latin typeface="Open Sans"/>
                <a:ea typeface="Open Sans"/>
                <a:cs typeface="Open Sans"/>
                <a:sym typeface="Open Sans"/>
              </a:rPr>
              <a:t> </a:t>
            </a:r>
            <a:r>
              <a:rPr i="1" lang="en">
                <a:solidFill>
                  <a:schemeClr val="dk1"/>
                </a:solidFill>
                <a:latin typeface="Open Sans"/>
                <a:ea typeface="Open Sans"/>
                <a:cs typeface="Open Sans"/>
                <a:sym typeface="Open Sans"/>
              </a:rPr>
              <a:t>(UCI ML Repository; compiled by Rubini, Soundarapandian &amp; Eswaran)</a:t>
            </a:r>
            <a:endParaRPr i="1">
              <a:solidFill>
                <a:schemeClr val="dk1"/>
              </a:solidFill>
              <a:latin typeface="Open Sans"/>
              <a:ea typeface="Open Sans"/>
              <a:cs typeface="Open Sans"/>
              <a:sym typeface="Open Sans"/>
            </a:endParaRPr>
          </a:p>
          <a:p>
            <a:pPr indent="-317500" lvl="0" marL="457200" rtl="0" algn="l">
              <a:spcBef>
                <a:spcPts val="1000"/>
              </a:spcBef>
              <a:spcAft>
                <a:spcPts val="0"/>
              </a:spcAft>
              <a:buClr>
                <a:schemeClr val="dk1"/>
              </a:buClr>
              <a:buSzPts val="1400"/>
              <a:buFont typeface="Economica"/>
              <a:buChar char="●"/>
            </a:pPr>
            <a:r>
              <a:rPr b="1" lang="en">
                <a:solidFill>
                  <a:schemeClr val="dk1"/>
                </a:solidFill>
                <a:latin typeface="Open Sans"/>
                <a:ea typeface="Open Sans"/>
                <a:cs typeface="Open Sans"/>
                <a:sym typeface="Open Sans"/>
              </a:rPr>
              <a:t>14 numerical variables</a:t>
            </a:r>
            <a:r>
              <a:rPr lang="en">
                <a:solidFill>
                  <a:schemeClr val="dk1"/>
                </a:solidFill>
                <a:latin typeface="Open Sans"/>
                <a:ea typeface="Open Sans"/>
                <a:cs typeface="Open Sans"/>
                <a:sym typeface="Open Sans"/>
              </a:rPr>
              <a:t> (e.g., blood pressure, serum creatinine, hemoglobin, random blood glucose) </a:t>
            </a:r>
            <a:endParaRPr>
              <a:solidFill>
                <a:schemeClr val="dk1"/>
              </a:solidFill>
              <a:latin typeface="Open Sans"/>
              <a:ea typeface="Open Sans"/>
              <a:cs typeface="Open Sans"/>
              <a:sym typeface="Open Sans"/>
            </a:endParaRPr>
          </a:p>
          <a:p>
            <a:pPr indent="-317500" lvl="0" marL="457200" rtl="0" algn="l">
              <a:spcBef>
                <a:spcPts val="1000"/>
              </a:spcBef>
              <a:spcAft>
                <a:spcPts val="0"/>
              </a:spcAft>
              <a:buClr>
                <a:schemeClr val="dk1"/>
              </a:buClr>
              <a:buSzPts val="1400"/>
              <a:buFont typeface="Economica"/>
              <a:buChar char="●"/>
            </a:pPr>
            <a:r>
              <a:rPr b="1" lang="en">
                <a:solidFill>
                  <a:schemeClr val="dk1"/>
                </a:solidFill>
                <a:latin typeface="Open Sans"/>
                <a:ea typeface="Open Sans"/>
                <a:cs typeface="Open Sans"/>
                <a:sym typeface="Open Sans"/>
              </a:rPr>
              <a:t>11 binary categorical variables</a:t>
            </a:r>
            <a:r>
              <a:rPr lang="en">
                <a:solidFill>
                  <a:schemeClr val="dk1"/>
                </a:solidFill>
                <a:latin typeface="Open Sans"/>
                <a:ea typeface="Open Sans"/>
                <a:cs typeface="Open Sans"/>
                <a:sym typeface="Open Sans"/>
              </a:rPr>
              <a:t> (e.g., diabetes, hypertension, appetite, edema)</a:t>
            </a:r>
            <a:endParaRPr>
              <a:solidFill>
                <a:schemeClr val="dk1"/>
              </a:solidFill>
              <a:latin typeface="Open Sans"/>
              <a:ea typeface="Open Sans"/>
              <a:cs typeface="Open Sans"/>
              <a:sym typeface="Open Sans"/>
            </a:endParaRPr>
          </a:p>
          <a:p>
            <a:pPr indent="-317500" lvl="0" marL="457200" rtl="0" algn="l">
              <a:spcBef>
                <a:spcPts val="1000"/>
              </a:spcBef>
              <a:spcAft>
                <a:spcPts val="0"/>
              </a:spcAft>
              <a:buClr>
                <a:schemeClr val="dk1"/>
              </a:buClr>
              <a:buSzPts val="1400"/>
              <a:buFont typeface="Economica"/>
              <a:buChar char="●"/>
            </a:pPr>
            <a:r>
              <a:rPr b="1" lang="en">
                <a:solidFill>
                  <a:schemeClr val="dk1"/>
                </a:solidFill>
                <a:latin typeface="Open Sans"/>
                <a:ea typeface="Open Sans"/>
                <a:cs typeface="Open Sans"/>
                <a:sym typeface="Open Sans"/>
              </a:rPr>
              <a:t>CKD status</a:t>
            </a:r>
            <a:r>
              <a:rPr lang="en">
                <a:solidFill>
                  <a:schemeClr val="dk1"/>
                </a:solidFill>
                <a:latin typeface="Open Sans"/>
                <a:ea typeface="Open Sans"/>
                <a:cs typeface="Open Sans"/>
                <a:sym typeface="Open Sans"/>
              </a:rPr>
              <a:t> is moderately imbalanced (</a:t>
            </a:r>
            <a:r>
              <a:rPr b="1" lang="en">
                <a:solidFill>
                  <a:schemeClr val="dk1"/>
                </a:solidFill>
                <a:latin typeface="Open Sans"/>
                <a:ea typeface="Open Sans"/>
                <a:cs typeface="Open Sans"/>
                <a:sym typeface="Open Sans"/>
              </a:rPr>
              <a:t>62.5% CKD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317500" lvl="0" marL="457200" rtl="0" algn="l">
              <a:spcBef>
                <a:spcPts val="1000"/>
              </a:spcBef>
              <a:spcAft>
                <a:spcPts val="0"/>
              </a:spcAft>
              <a:buClr>
                <a:schemeClr val="dk1"/>
              </a:buClr>
              <a:buSzPts val="1400"/>
              <a:buFont typeface="Economica"/>
              <a:buChar char="●"/>
            </a:pPr>
            <a:r>
              <a:rPr lang="en">
                <a:solidFill>
                  <a:schemeClr val="dk1"/>
                </a:solidFill>
                <a:latin typeface="Open Sans"/>
                <a:ea typeface="Open Sans"/>
                <a:cs typeface="Open Sans"/>
                <a:sym typeface="Open Sans"/>
              </a:rPr>
              <a:t>Some laboratory variables show </a:t>
            </a:r>
            <a:r>
              <a:rPr b="1" lang="en">
                <a:solidFill>
                  <a:schemeClr val="dk1"/>
                </a:solidFill>
                <a:latin typeface="Open Sans"/>
                <a:ea typeface="Open Sans"/>
                <a:cs typeface="Open Sans"/>
                <a:sym typeface="Open Sans"/>
              </a:rPr>
              <a:t>high missingness</a:t>
            </a:r>
            <a:r>
              <a:rPr lang="en">
                <a:solidFill>
                  <a:schemeClr val="dk1"/>
                </a:solidFill>
                <a:latin typeface="Open Sans"/>
                <a:ea typeface="Open Sans"/>
                <a:cs typeface="Open Sans"/>
                <a:sym typeface="Open Sans"/>
              </a:rPr>
              <a:t> (e.g., </a:t>
            </a:r>
            <a:r>
              <a:rPr b="1" lang="en">
                <a:solidFill>
                  <a:schemeClr val="dk1"/>
                </a:solidFill>
                <a:latin typeface="Open Sans"/>
                <a:ea typeface="Open Sans"/>
                <a:cs typeface="Open Sans"/>
                <a:sym typeface="Open Sans"/>
              </a:rPr>
              <a:t>rbc ≈ 38%</a:t>
            </a:r>
            <a:r>
              <a:rPr lang="en">
                <a:solidFill>
                  <a:schemeClr val="dk1"/>
                </a:solidFill>
                <a:latin typeface="Open Sans"/>
                <a:ea typeface="Open Sans"/>
                <a:cs typeface="Open Sans"/>
                <a:sym typeface="Open Sans"/>
              </a:rPr>
              <a:t>, rbcc and wbcc also substantially missing)</a:t>
            </a:r>
            <a:endParaRPr>
              <a:solidFill>
                <a:schemeClr val="dk1"/>
              </a:solidFill>
              <a:latin typeface="Open Sans"/>
              <a:ea typeface="Open Sans"/>
              <a:cs typeface="Open Sans"/>
              <a:sym typeface="Open Sans"/>
            </a:endParaRPr>
          </a:p>
          <a:p>
            <a:pPr indent="0" lvl="0" marL="0" rtl="0" algn="l">
              <a:spcBef>
                <a:spcPts val="1000"/>
              </a:spcBef>
              <a:spcAft>
                <a:spcPts val="0"/>
              </a:spcAft>
              <a:buNone/>
            </a:pPr>
            <a:r>
              <a:rPr b="1" lang="en">
                <a:solidFill>
                  <a:srgbClr val="CC0000"/>
                </a:solidFill>
                <a:latin typeface="Open Sans"/>
                <a:ea typeface="Open Sans"/>
                <a:cs typeface="Open Sans"/>
                <a:sym typeface="Open Sans"/>
              </a:rPr>
              <a:t>→ This uneven missing-data pattern creates a realistic setting for evaluating model robustness under MCAR/MNAR scenarios</a:t>
            </a:r>
            <a:endParaRPr b="1">
              <a:solidFill>
                <a:srgbClr val="CC0000"/>
              </a:solidFill>
              <a:latin typeface="Open Sans"/>
              <a:ea typeface="Open Sans"/>
              <a:cs typeface="Open Sans"/>
              <a:sym typeface="Open Sans"/>
            </a:endParaRPr>
          </a:p>
          <a:p>
            <a:pPr indent="0" lvl="0" marL="457200" rtl="0" algn="l">
              <a:spcBef>
                <a:spcPts val="1000"/>
              </a:spcBef>
              <a:spcAft>
                <a:spcPts val="1000"/>
              </a:spcAft>
              <a:buNone/>
            </a:pPr>
            <a:r>
              <a:t/>
            </a:r>
            <a:endParaRPr>
              <a:solidFill>
                <a:schemeClr val="dk1"/>
              </a:solidFill>
              <a:latin typeface="Open Sans"/>
              <a:ea typeface="Open Sans"/>
              <a:cs typeface="Open Sans"/>
              <a:sym typeface="Open Sans"/>
            </a:endParaRPr>
          </a:p>
        </p:txBody>
      </p:sp>
      <p:pic>
        <p:nvPicPr>
          <p:cNvPr id="76" name="Google Shape;76;p15"/>
          <p:cNvPicPr preferRelativeResize="0"/>
          <p:nvPr/>
        </p:nvPicPr>
        <p:blipFill rotWithShape="1">
          <a:blip r:embed="rId3">
            <a:alphaModFix/>
          </a:blip>
          <a:srcRect b="0" l="0" r="0" t="4516"/>
          <a:stretch/>
        </p:blipFill>
        <p:spPr>
          <a:xfrm>
            <a:off x="5476875" y="828675"/>
            <a:ext cx="3590926" cy="2133600"/>
          </a:xfrm>
          <a:prstGeom prst="rect">
            <a:avLst/>
          </a:prstGeom>
          <a:noFill/>
          <a:ln>
            <a:noFill/>
          </a:ln>
        </p:spPr>
      </p:pic>
      <p:pic>
        <p:nvPicPr>
          <p:cNvPr id="77" name="Google Shape;77;p15"/>
          <p:cNvPicPr preferRelativeResize="0"/>
          <p:nvPr/>
        </p:nvPicPr>
        <p:blipFill>
          <a:blip r:embed="rId4">
            <a:alphaModFix/>
          </a:blip>
          <a:stretch>
            <a:fillRect/>
          </a:stretch>
        </p:blipFill>
        <p:spPr>
          <a:xfrm>
            <a:off x="5476875" y="3009900"/>
            <a:ext cx="3667124" cy="2133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206925" y="115900"/>
            <a:ext cx="88314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t>Exploratory Data Analysis: </a:t>
            </a:r>
            <a:r>
              <a:rPr b="1" lang="en" sz="2800"/>
              <a:t>Missing Data Structure (MCAR vs MNAR)</a:t>
            </a:r>
            <a:endParaRPr b="1" sz="2800"/>
          </a:p>
        </p:txBody>
      </p:sp>
      <p:sp>
        <p:nvSpPr>
          <p:cNvPr id="83" name="Google Shape;83;p16"/>
          <p:cNvSpPr txBox="1"/>
          <p:nvPr>
            <p:ph idx="2" type="body"/>
          </p:nvPr>
        </p:nvSpPr>
        <p:spPr>
          <a:xfrm>
            <a:off x="4635500" y="841375"/>
            <a:ext cx="4546500" cy="356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The dataset exhibits </a:t>
            </a:r>
            <a:r>
              <a:rPr b="1" lang="en"/>
              <a:t>heterogeneous and uneven missingness</a:t>
            </a:r>
            <a:r>
              <a:rPr lang="en"/>
              <a:t>, especially in laboratory variables.</a:t>
            </a:r>
            <a:endParaRPr/>
          </a:p>
          <a:p>
            <a:pPr indent="-317500" lvl="0" marL="457200" rtl="0" algn="l">
              <a:spcBef>
                <a:spcPts val="1000"/>
              </a:spcBef>
              <a:spcAft>
                <a:spcPts val="0"/>
              </a:spcAft>
              <a:buSzPts val="1400"/>
              <a:buChar char="●"/>
            </a:pPr>
            <a:r>
              <a:rPr lang="en"/>
              <a:t>Several variables show </a:t>
            </a:r>
            <a:r>
              <a:rPr b="1" lang="en"/>
              <a:t>MCAR-like patterns</a:t>
            </a:r>
            <a:r>
              <a:rPr lang="en"/>
              <a:t> with similar missingness across CKD and non-CKD groups (e.g., age, bp, bu, sc).</a:t>
            </a:r>
            <a:endParaRPr/>
          </a:p>
          <a:p>
            <a:pPr indent="-317500" lvl="0" marL="457200" rtl="0" algn="l">
              <a:spcBef>
                <a:spcPts val="1000"/>
              </a:spcBef>
              <a:spcAft>
                <a:spcPts val="0"/>
              </a:spcAft>
              <a:buSzPts val="1400"/>
              <a:buChar char="●"/>
            </a:pPr>
            <a:r>
              <a:rPr lang="en"/>
              <a:t>Others display </a:t>
            </a:r>
            <a:r>
              <a:rPr b="1" lang="en"/>
              <a:t>strong MNAR behavior</a:t>
            </a:r>
            <a:r>
              <a:rPr lang="en"/>
              <a:t>, with much higher missingness in CKD patients (rbc 57.2% vs 6.0%, rbcc 49.6% vs 4.7%, wbcc 39.6% vs 4.7%).</a:t>
            </a:r>
            <a:endParaRPr/>
          </a:p>
          <a:p>
            <a:pPr indent="-317500" lvl="0" marL="457200" rtl="0" algn="l">
              <a:spcBef>
                <a:spcPts val="1000"/>
              </a:spcBef>
              <a:spcAft>
                <a:spcPts val="0"/>
              </a:spcAft>
              <a:buSzPts val="1400"/>
              <a:buChar char="●"/>
            </a:pPr>
            <a:r>
              <a:rPr lang="en"/>
              <a:t>These patterns indicate that missingness is </a:t>
            </a:r>
            <a:r>
              <a:rPr b="1" lang="en"/>
              <a:t>partly related to disease severity</a:t>
            </a:r>
            <a:r>
              <a:rPr lang="en"/>
              <a:t>, requiring robust analytical methods.</a:t>
            </a:r>
            <a:endParaRPr/>
          </a:p>
          <a:p>
            <a:pPr indent="0" lvl="0" marL="0" rtl="0" algn="l">
              <a:spcBef>
                <a:spcPts val="1000"/>
              </a:spcBef>
              <a:spcAft>
                <a:spcPts val="0"/>
              </a:spcAft>
              <a:buNone/>
            </a:pPr>
            <a:r>
              <a:rPr b="1" lang="en">
                <a:solidFill>
                  <a:srgbClr val="CC0000"/>
                </a:solidFill>
              </a:rPr>
              <a:t>→ This structure motivates the MCAR/MNAR simulations conducted in later sections.</a:t>
            </a:r>
            <a:endParaRPr b="1">
              <a:solidFill>
                <a:srgbClr val="CC0000"/>
              </a:solidFill>
            </a:endParaRPr>
          </a:p>
          <a:p>
            <a:pPr indent="0" lvl="0" marL="0" rtl="0" algn="l">
              <a:spcBef>
                <a:spcPts val="1000"/>
              </a:spcBef>
              <a:spcAft>
                <a:spcPts val="1200"/>
              </a:spcAft>
              <a:buNone/>
            </a:pPr>
            <a:r>
              <a:t/>
            </a:r>
            <a:endParaRPr/>
          </a:p>
        </p:txBody>
      </p:sp>
      <p:graphicFrame>
        <p:nvGraphicFramePr>
          <p:cNvPr id="84" name="Google Shape;84;p16"/>
          <p:cNvGraphicFramePr/>
          <p:nvPr/>
        </p:nvGraphicFramePr>
        <p:xfrm>
          <a:off x="246888" y="1252728"/>
          <a:ext cx="3000000" cy="3000000"/>
        </p:xfrm>
        <a:graphic>
          <a:graphicData uri="http://schemas.openxmlformats.org/drawingml/2006/table">
            <a:tbl>
              <a:tblPr>
                <a:noFill/>
                <a:tableStyleId>{DADB00E5-4830-42CE-BF0C-D32D79E257A4}</a:tableStyleId>
              </a:tblPr>
              <a:tblGrid>
                <a:gridCol w="606425"/>
                <a:gridCol w="1273600"/>
                <a:gridCol w="1406975"/>
                <a:gridCol w="550075"/>
                <a:gridCol w="630425"/>
              </a:tblGrid>
              <a:tr h="409050">
                <a:tc>
                  <a:txBody>
                    <a:bodyPr/>
                    <a:lstStyle/>
                    <a:p>
                      <a:pPr indent="0" lvl="0" marL="0" rtl="0" algn="ctr">
                        <a:lnSpc>
                          <a:spcPct val="115000"/>
                        </a:lnSpc>
                        <a:spcBef>
                          <a:spcPts val="0"/>
                        </a:spcBef>
                        <a:spcAft>
                          <a:spcPts val="0"/>
                        </a:spcAft>
                        <a:buNone/>
                      </a:pPr>
                      <a:r>
                        <a:rPr b="1" lang="en" sz="1000">
                          <a:latin typeface="Open Sans"/>
                          <a:ea typeface="Open Sans"/>
                          <a:cs typeface="Open Sans"/>
                          <a:sym typeface="Open Sans"/>
                        </a:rPr>
                        <a:t>Var</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en" sz="1000">
                          <a:latin typeface="Open Sans"/>
                          <a:ea typeface="Open Sans"/>
                          <a:cs typeface="Open Sans"/>
                          <a:sym typeface="Open Sans"/>
                        </a:rPr>
                        <a:t>CKD Miss (%)</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en" sz="1000">
                          <a:latin typeface="Open Sans"/>
                          <a:ea typeface="Open Sans"/>
                          <a:cs typeface="Open Sans"/>
                          <a:sym typeface="Open Sans"/>
                        </a:rPr>
                        <a:t>non-CKD Miss(%)</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en" sz="1000">
                          <a:latin typeface="Open Sans"/>
                          <a:ea typeface="Open Sans"/>
                          <a:cs typeface="Open Sans"/>
                          <a:sym typeface="Open Sans"/>
                        </a:rPr>
                        <a:t>Δ(%)</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en" sz="1000">
                          <a:latin typeface="Open Sans"/>
                          <a:ea typeface="Open Sans"/>
                          <a:cs typeface="Open Sans"/>
                          <a:sym typeface="Open Sans"/>
                        </a:rPr>
                        <a:t>Missing Type</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age</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3.2</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0.67</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2.53</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MCAR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bp</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4.0</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1.33</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2.67</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MCAR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bu</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5.2</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4.0</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9144" lvl="0" marL="0" rtl="0" algn="ctr">
                        <a:spcBef>
                          <a:spcPts val="0"/>
                        </a:spcBef>
                        <a:spcAft>
                          <a:spcPts val="0"/>
                        </a:spcAft>
                        <a:buNone/>
                      </a:pPr>
                      <a:r>
                        <a:rPr lang="en" sz="1000">
                          <a:latin typeface="Open Sans"/>
                          <a:ea typeface="Open Sans"/>
                          <a:cs typeface="Open Sans"/>
                          <a:sym typeface="Open Sans"/>
                        </a:rPr>
                        <a:t>1.20</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MCAR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sc</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4.8</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3.33</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1.47</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MCAR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rbc</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57.2</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6.0</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51.2</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MNAR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rbcc</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49.6</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4.67</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44.9</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MNAR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wbcc</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39.6</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4.67</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34.9</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MNAR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pot</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33.2</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3.33</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29.9</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MNAR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r>
              <a:tr h="322775">
                <a:tc>
                  <a:txBody>
                    <a:bodyPr/>
                    <a:lstStyle/>
                    <a:p>
                      <a:pPr indent="0" lvl="0" marL="0" rtl="0" algn="ctr">
                        <a:spcBef>
                          <a:spcPts val="0"/>
                        </a:spcBef>
                        <a:spcAft>
                          <a:spcPts val="0"/>
                        </a:spcAft>
                        <a:buNone/>
                      </a:pPr>
                      <a:r>
                        <a:rPr lang="en" sz="1000">
                          <a:latin typeface="Open Sans"/>
                          <a:ea typeface="Open Sans"/>
                          <a:cs typeface="Open Sans"/>
                          <a:sym typeface="Open Sans"/>
                        </a:rPr>
                        <a:t>sod</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sz="1000">
                          <a:latin typeface="Open Sans"/>
                          <a:ea typeface="Open Sans"/>
                          <a:cs typeface="Open Sans"/>
                          <a:sym typeface="Open Sans"/>
                        </a:rPr>
                        <a:t>32.8</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3.33</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29.5</a:t>
                      </a:r>
                      <a:endParaRPr b="1"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Open Sans"/>
                          <a:ea typeface="Open Sans"/>
                          <a:cs typeface="Open Sans"/>
                          <a:sym typeface="Open Sans"/>
                        </a:rPr>
                        <a:t>MNAR</a:t>
                      </a:r>
                      <a:endParaRPr sz="1000">
                        <a:latin typeface="Open Sans"/>
                        <a:ea typeface="Open Sans"/>
                        <a:cs typeface="Open Sans"/>
                        <a:sym typeface="Open Sans"/>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265500" y="154925"/>
            <a:ext cx="8659500" cy="615600"/>
          </a:xfrm>
          <a:prstGeom prst="rect">
            <a:avLst/>
          </a:prstGeom>
        </p:spPr>
        <p:txBody>
          <a:bodyPr anchorCtr="0" anchor="b" bIns="91425" lIns="91425" spcFirstLastPara="1" rIns="91425" wrap="square" tIns="91425">
            <a:spAutoFit/>
          </a:bodyPr>
          <a:lstStyle/>
          <a:p>
            <a:pPr indent="0" lvl="0" marL="0" rtl="0" algn="l">
              <a:lnSpc>
                <a:spcPct val="115000"/>
              </a:lnSpc>
              <a:spcBef>
                <a:spcPts val="1800"/>
              </a:spcBef>
              <a:spcAft>
                <a:spcPts val="400"/>
              </a:spcAft>
              <a:buNone/>
            </a:pPr>
            <a:r>
              <a:rPr b="1" lang="en" sz="2800">
                <a:solidFill>
                  <a:schemeClr val="dk1"/>
                </a:solidFill>
              </a:rPr>
              <a:t>Exploratory Data Analysis: Key Summary Statistics and Correlations</a:t>
            </a:r>
            <a:endParaRPr sz="2800"/>
          </a:p>
        </p:txBody>
      </p:sp>
      <p:sp>
        <p:nvSpPr>
          <p:cNvPr id="90" name="Google Shape;90;p17"/>
          <p:cNvSpPr txBox="1"/>
          <p:nvPr/>
        </p:nvSpPr>
        <p:spPr>
          <a:xfrm>
            <a:off x="4826875" y="770525"/>
            <a:ext cx="4045200" cy="3953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Font typeface="Open Sans"/>
              <a:buChar char="●"/>
            </a:pPr>
            <a:r>
              <a:rPr lang="en">
                <a:latin typeface="Open Sans"/>
                <a:ea typeface="Open Sans"/>
                <a:cs typeface="Open Sans"/>
                <a:sym typeface="Open Sans"/>
              </a:rPr>
              <a:t>Summary statistics were examined for all 25 variables to understand their ranges, units, and overall distribution patterns.</a:t>
            </a:r>
            <a:br>
              <a:rPr lang="en">
                <a:latin typeface="Open Sans"/>
                <a:ea typeface="Open Sans"/>
                <a:cs typeface="Open Sans"/>
                <a:sym typeface="Open Sans"/>
              </a:rPr>
            </a:br>
            <a:endParaRPr>
              <a:latin typeface="Open Sans"/>
              <a:ea typeface="Open Sans"/>
              <a:cs typeface="Open Sans"/>
              <a:sym typeface="Open Sans"/>
            </a:endParaRPr>
          </a:p>
          <a:p>
            <a:pPr indent="-317500" lvl="0" marL="457200" rtl="0" algn="l">
              <a:spcBef>
                <a:spcPts val="0"/>
              </a:spcBef>
              <a:spcAft>
                <a:spcPts val="0"/>
              </a:spcAft>
              <a:buClr>
                <a:srgbClr val="000000"/>
              </a:buClr>
              <a:buSzPts val="1400"/>
              <a:buFont typeface="Open Sans"/>
              <a:buChar char="●"/>
            </a:pPr>
            <a:r>
              <a:rPr lang="en">
                <a:latin typeface="Open Sans"/>
                <a:ea typeface="Open Sans"/>
                <a:cs typeface="Open Sans"/>
                <a:sym typeface="Open Sans"/>
              </a:rPr>
              <a:t>Correlation analysis revealed that hematological variables—hemo, rbcc, wbcc, and pcv—form a strongly correlated cluster, with pairwise correlations ranging approximately from 0.60 to 0.85.</a:t>
            </a:r>
            <a:br>
              <a:rPr lang="en">
                <a:latin typeface="Open Sans"/>
                <a:ea typeface="Open Sans"/>
                <a:cs typeface="Open Sans"/>
                <a:sym typeface="Open Sans"/>
              </a:rPr>
            </a:br>
            <a:endParaRPr>
              <a:latin typeface="Open Sans"/>
              <a:ea typeface="Open Sans"/>
              <a:cs typeface="Open Sans"/>
              <a:sym typeface="Open Sans"/>
            </a:endParaRPr>
          </a:p>
          <a:p>
            <a:pPr indent="0" lvl="0" marL="0" rtl="0" algn="l">
              <a:spcBef>
                <a:spcPts val="0"/>
              </a:spcBef>
              <a:spcAft>
                <a:spcPts val="0"/>
              </a:spcAft>
              <a:buNone/>
            </a:pPr>
            <a:r>
              <a:rPr b="1" lang="en">
                <a:solidFill>
                  <a:srgbClr val="CC0000"/>
                </a:solidFill>
                <a:latin typeface="Open Sans"/>
                <a:ea typeface="Open Sans"/>
                <a:cs typeface="Open Sans"/>
                <a:sym typeface="Open Sans"/>
              </a:rPr>
              <a:t>→ </a:t>
            </a:r>
            <a:r>
              <a:rPr b="1" lang="en">
                <a:solidFill>
                  <a:srgbClr val="CC0000"/>
                </a:solidFill>
                <a:latin typeface="Open Sans"/>
                <a:ea typeface="Open Sans"/>
                <a:cs typeface="Open Sans"/>
                <a:sym typeface="Open Sans"/>
              </a:rPr>
              <a:t>This high correlation structure suggests potential multicollinearity, providing the motivation for performing a VIF-based assessment during the logistic regression modeling stage.</a:t>
            </a:r>
            <a:endParaRPr>
              <a:solidFill>
                <a:srgbClr val="CC0000"/>
              </a:solidFill>
              <a:latin typeface="Open Sans"/>
              <a:ea typeface="Open Sans"/>
              <a:cs typeface="Open Sans"/>
              <a:sym typeface="Open Sans"/>
            </a:endParaRPr>
          </a:p>
        </p:txBody>
      </p:sp>
      <p:pic>
        <p:nvPicPr>
          <p:cNvPr id="91" name="Google Shape;91;p17"/>
          <p:cNvPicPr preferRelativeResize="0"/>
          <p:nvPr/>
        </p:nvPicPr>
        <p:blipFill rotWithShape="1">
          <a:blip r:embed="rId3">
            <a:alphaModFix/>
          </a:blip>
          <a:srcRect b="0" l="0" r="1225" t="0"/>
          <a:stretch/>
        </p:blipFill>
        <p:spPr>
          <a:xfrm>
            <a:off x="190525" y="770525"/>
            <a:ext cx="4381475" cy="3843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174150" y="513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2800"/>
              <a:t>H₁: Variance Test (F-test) and Welch’s T-test Procedures</a:t>
            </a:r>
            <a:endParaRPr b="1" sz="2800"/>
          </a:p>
        </p:txBody>
      </p:sp>
      <p:sp>
        <p:nvSpPr>
          <p:cNvPr id="97" name="Google Shape;97;p18"/>
          <p:cNvSpPr txBox="1"/>
          <p:nvPr>
            <p:ph idx="1" type="body"/>
          </p:nvPr>
        </p:nvSpPr>
        <p:spPr>
          <a:xfrm>
            <a:off x="269350" y="967300"/>
            <a:ext cx="8980500" cy="408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Purpose of H₁</a:t>
            </a:r>
            <a:endParaRPr b="1"/>
          </a:p>
          <a:p>
            <a:pPr indent="-317500" lvl="0" marL="457200" rtl="0" algn="l">
              <a:spcBef>
                <a:spcPts val="0"/>
              </a:spcBef>
              <a:spcAft>
                <a:spcPts val="0"/>
              </a:spcAft>
              <a:buSzPts val="1400"/>
              <a:buFont typeface="Open Sans"/>
              <a:buChar char="●"/>
            </a:pPr>
            <a:r>
              <a:rPr lang="en"/>
              <a:t>To test whether mean blood pressure differs between the good appetite and poor appetite groups.</a:t>
            </a:r>
            <a:endParaRPr/>
          </a:p>
          <a:p>
            <a:pPr indent="-317500" lvl="0" marL="457200" rtl="0" algn="l">
              <a:spcBef>
                <a:spcPts val="0"/>
              </a:spcBef>
              <a:spcAft>
                <a:spcPts val="0"/>
              </a:spcAft>
              <a:buSzPts val="1400"/>
              <a:buFont typeface="Open Sans"/>
              <a:buChar char="●"/>
            </a:pPr>
            <a:r>
              <a:rPr lang="en"/>
              <a:t>Appetite is binary, and blood pressure is continuous, making the two-sample T-test appropriate.</a:t>
            </a:r>
            <a:endParaRPr/>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en"/>
              <a:t>Missing Data Handling</a:t>
            </a:r>
            <a:endParaRPr b="1"/>
          </a:p>
          <a:p>
            <a:pPr indent="-317500" lvl="0" marL="457200" rtl="0" algn="l">
              <a:spcBef>
                <a:spcPts val="0"/>
              </a:spcBef>
              <a:spcAft>
                <a:spcPts val="0"/>
              </a:spcAft>
              <a:buSzPts val="1400"/>
              <a:buFont typeface="Open Sans"/>
              <a:buChar char="●"/>
            </a:pPr>
            <a:r>
              <a:rPr lang="en"/>
              <a:t>Both variables had &lt;5% missingness, so </a:t>
            </a:r>
            <a:r>
              <a:rPr b="1" lang="en">
                <a:solidFill>
                  <a:srgbClr val="CC0000"/>
                </a:solidFill>
              </a:rPr>
              <a:t>listwise deletion</a:t>
            </a:r>
            <a:r>
              <a:rPr lang="en"/>
              <a:t> was applied.</a:t>
            </a:r>
            <a:endParaRPr/>
          </a:p>
          <a:p>
            <a:pPr indent="-317500" lvl="0" marL="457200" rtl="0" algn="l">
              <a:spcBef>
                <a:spcPts val="0"/>
              </a:spcBef>
              <a:spcAft>
                <a:spcPts val="0"/>
              </a:spcAft>
              <a:buSzPts val="1400"/>
              <a:buFont typeface="Open Sans"/>
              <a:buChar char="●"/>
            </a:pPr>
            <a:r>
              <a:rPr lang="en"/>
              <a:t>The small number of removed rows did not affect the distribution, allowing clean implementation of the tests.</a:t>
            </a:r>
            <a:endParaRPr/>
          </a:p>
          <a:p>
            <a:pPr indent="0" lvl="0" marL="45720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t>F-test (variance equality)</a:t>
            </a:r>
            <a:endParaRPr b="1"/>
          </a:p>
          <a:p>
            <a:pPr indent="-317500" lvl="0" marL="457200" rtl="0" algn="l">
              <a:spcBef>
                <a:spcPts val="0"/>
              </a:spcBef>
              <a:spcAft>
                <a:spcPts val="0"/>
              </a:spcAft>
              <a:buSzPts val="1400"/>
              <a:buFont typeface="Open Sans"/>
              <a:buChar char="●"/>
            </a:pPr>
            <a:r>
              <a:rPr lang="en"/>
              <a:t>H₀: Variances of bp are equal across appetite groups</a:t>
            </a:r>
            <a:endParaRPr/>
          </a:p>
          <a:p>
            <a:pPr indent="-317500" lvl="0" marL="457200" rtl="0" algn="l">
              <a:spcBef>
                <a:spcPts val="0"/>
              </a:spcBef>
              <a:spcAft>
                <a:spcPts val="0"/>
              </a:spcAft>
              <a:buSzPts val="1400"/>
              <a:buFont typeface="Open Sans"/>
              <a:buChar char="●"/>
            </a:pPr>
            <a:r>
              <a:rPr lang="en"/>
              <a:t>H₁: Variances of bp are not equal across appetite groups</a:t>
            </a:r>
            <a:endParaRPr/>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en"/>
              <a:t>Welch’s T-test (mean comparison)</a:t>
            </a:r>
            <a:endParaRPr b="1"/>
          </a:p>
          <a:p>
            <a:pPr indent="-317500" lvl="0" marL="457200" rtl="0" algn="l">
              <a:spcBef>
                <a:spcPts val="0"/>
              </a:spcBef>
              <a:spcAft>
                <a:spcPts val="0"/>
              </a:spcAft>
              <a:buSzPts val="1400"/>
              <a:buFont typeface="Open Sans"/>
              <a:buChar char="●"/>
            </a:pPr>
            <a:r>
              <a:rPr lang="en"/>
              <a:t>H₀: μ_good = μ_poor</a:t>
            </a:r>
            <a:endParaRPr/>
          </a:p>
          <a:p>
            <a:pPr indent="-317500" lvl="0" marL="457200" rtl="0" algn="l">
              <a:spcBef>
                <a:spcPts val="0"/>
              </a:spcBef>
              <a:spcAft>
                <a:spcPts val="0"/>
              </a:spcAft>
              <a:buSzPts val="1400"/>
              <a:buFont typeface="Open Sans"/>
              <a:buChar char="●"/>
            </a:pPr>
            <a:r>
              <a:rPr lang="en"/>
              <a:t>H₁: μ_good ≠ μ_poor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100050" y="61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2800"/>
              <a:t>H₁: Statistical Results, Interpretation, and Findings</a:t>
            </a:r>
            <a:endParaRPr b="1" sz="2800"/>
          </a:p>
        </p:txBody>
      </p:sp>
      <p:sp>
        <p:nvSpPr>
          <p:cNvPr id="103" name="Google Shape;103;p19"/>
          <p:cNvSpPr txBox="1"/>
          <p:nvPr>
            <p:ph idx="1" type="body"/>
          </p:nvPr>
        </p:nvSpPr>
        <p:spPr>
          <a:xfrm>
            <a:off x="244250" y="894750"/>
            <a:ext cx="41544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F-Test</a:t>
            </a:r>
            <a:endParaRPr b="1"/>
          </a:p>
          <a:p>
            <a:pPr indent="-317500" lvl="0" marL="457200" rtl="0" algn="l">
              <a:spcBef>
                <a:spcPts val="1200"/>
              </a:spcBef>
              <a:spcAft>
                <a:spcPts val="0"/>
              </a:spcAft>
              <a:buSzPts val="1400"/>
              <a:buChar char="●"/>
            </a:pPr>
            <a:r>
              <a:rPr lang="en"/>
              <a:t>F= 0.4355</a:t>
            </a:r>
            <a:endParaRPr/>
          </a:p>
          <a:p>
            <a:pPr indent="-317500" lvl="0" marL="457200" rtl="0" algn="l">
              <a:spcBef>
                <a:spcPts val="0"/>
              </a:spcBef>
              <a:spcAft>
                <a:spcPts val="0"/>
              </a:spcAft>
              <a:buSzPts val="1400"/>
              <a:buChar char="●"/>
            </a:pPr>
            <a:r>
              <a:rPr lang="en"/>
              <a:t>p</a:t>
            </a:r>
            <a:r>
              <a:rPr lang="en"/>
              <a:t>-value= 0.000000423</a:t>
            </a:r>
            <a:endParaRPr/>
          </a:p>
          <a:p>
            <a:pPr indent="0" lvl="0" marL="0" rtl="0" algn="l">
              <a:spcBef>
                <a:spcPts val="1200"/>
              </a:spcBef>
              <a:spcAft>
                <a:spcPts val="1200"/>
              </a:spcAft>
              <a:buNone/>
            </a:pPr>
            <a:r>
              <a:rPr b="1" lang="en">
                <a:solidFill>
                  <a:srgbClr val="CC0000"/>
                </a:solidFill>
              </a:rPr>
              <a:t>→</a:t>
            </a:r>
            <a:r>
              <a:rPr b="1" lang="en">
                <a:solidFill>
                  <a:srgbClr val="CC0000"/>
                </a:solidFill>
              </a:rPr>
              <a:t>p&lt; 0.05, reject H0, variances are not equal and Welch’s T-test must be used.</a:t>
            </a:r>
            <a:endParaRPr b="1">
              <a:solidFill>
                <a:srgbClr val="CC0000"/>
              </a:solidFill>
            </a:endParaRPr>
          </a:p>
        </p:txBody>
      </p:sp>
      <p:sp>
        <p:nvSpPr>
          <p:cNvPr id="104" name="Google Shape;104;p19"/>
          <p:cNvSpPr txBox="1"/>
          <p:nvPr>
            <p:ph idx="2" type="body"/>
          </p:nvPr>
        </p:nvSpPr>
        <p:spPr>
          <a:xfrm>
            <a:off x="4832400" y="844225"/>
            <a:ext cx="4154400" cy="193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Welch’s T-test</a:t>
            </a:r>
            <a:endParaRPr/>
          </a:p>
          <a:p>
            <a:pPr indent="-317500" lvl="0" marL="457200" rtl="0" algn="l">
              <a:spcBef>
                <a:spcPts val="1200"/>
              </a:spcBef>
              <a:spcAft>
                <a:spcPts val="0"/>
              </a:spcAft>
              <a:buSzPts val="1400"/>
              <a:buChar char="●"/>
            </a:pPr>
            <a:r>
              <a:rPr lang="en"/>
              <a:t>t</a:t>
            </a:r>
            <a:r>
              <a:rPr lang="en"/>
              <a:t>-</a:t>
            </a:r>
            <a:r>
              <a:rPr lang="en"/>
              <a:t>statistic= -2.8087</a:t>
            </a:r>
            <a:endParaRPr/>
          </a:p>
          <a:p>
            <a:pPr indent="-317500" lvl="0" marL="457200" rtl="0" algn="l">
              <a:spcBef>
                <a:spcPts val="0"/>
              </a:spcBef>
              <a:spcAft>
                <a:spcPts val="0"/>
              </a:spcAft>
              <a:buSzPts val="1400"/>
              <a:buChar char="●"/>
            </a:pPr>
            <a:r>
              <a:rPr lang="en"/>
              <a:t>p-value= 0.006</a:t>
            </a:r>
            <a:endParaRPr/>
          </a:p>
          <a:p>
            <a:pPr indent="0" lvl="0" marL="0" rtl="0" algn="l">
              <a:spcBef>
                <a:spcPts val="1200"/>
              </a:spcBef>
              <a:spcAft>
                <a:spcPts val="1200"/>
              </a:spcAft>
              <a:buNone/>
            </a:pPr>
            <a:r>
              <a:rPr b="1" lang="en">
                <a:solidFill>
                  <a:srgbClr val="CC0000"/>
                </a:solidFill>
              </a:rPr>
              <a:t>→p&lt; 0.05, reject H0, Mean blood pressure differs significantly between good and poor appetite groups.</a:t>
            </a:r>
            <a:endParaRPr b="1">
              <a:solidFill>
                <a:srgbClr val="CC0000"/>
              </a:solidFill>
            </a:endParaRPr>
          </a:p>
        </p:txBody>
      </p:sp>
      <p:pic>
        <p:nvPicPr>
          <p:cNvPr id="105" name="Google Shape;105;p19"/>
          <p:cNvPicPr preferRelativeResize="0"/>
          <p:nvPr/>
        </p:nvPicPr>
        <p:blipFill rotWithShape="1">
          <a:blip r:embed="rId3">
            <a:alphaModFix/>
          </a:blip>
          <a:srcRect b="0" l="0" r="0" t="0"/>
          <a:stretch/>
        </p:blipFill>
        <p:spPr>
          <a:xfrm>
            <a:off x="367225" y="2783425"/>
            <a:ext cx="3908449" cy="2296575"/>
          </a:xfrm>
          <a:prstGeom prst="rect">
            <a:avLst/>
          </a:prstGeom>
          <a:noFill/>
          <a:ln>
            <a:noFill/>
          </a:ln>
        </p:spPr>
      </p:pic>
      <p:pic>
        <p:nvPicPr>
          <p:cNvPr id="106" name="Google Shape;106;p19"/>
          <p:cNvPicPr preferRelativeResize="0"/>
          <p:nvPr/>
        </p:nvPicPr>
        <p:blipFill>
          <a:blip r:embed="rId4">
            <a:alphaModFix/>
          </a:blip>
          <a:stretch>
            <a:fillRect/>
          </a:stretch>
        </p:blipFill>
        <p:spPr>
          <a:xfrm>
            <a:off x="4832400" y="2783425"/>
            <a:ext cx="4154399" cy="2296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0" y="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H₂: Research Question &amp; Modeling Workflow</a:t>
            </a:r>
            <a:endParaRPr b="1" sz="3000"/>
          </a:p>
        </p:txBody>
      </p:sp>
      <p:sp>
        <p:nvSpPr>
          <p:cNvPr id="112" name="Google Shape;112;p20"/>
          <p:cNvSpPr txBox="1"/>
          <p:nvPr>
            <p:ph idx="1" type="body"/>
          </p:nvPr>
        </p:nvSpPr>
        <p:spPr>
          <a:xfrm>
            <a:off x="0" y="831300"/>
            <a:ext cx="8906100" cy="416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Purpose of H₂</a:t>
            </a:r>
            <a:endParaRPr b="1"/>
          </a:p>
          <a:p>
            <a:pPr indent="-317500" lvl="0" marL="457200" rtl="0" algn="l">
              <a:spcBef>
                <a:spcPts val="0"/>
              </a:spcBef>
              <a:spcAft>
                <a:spcPts val="0"/>
              </a:spcAft>
              <a:buSzPts val="1400"/>
              <a:buFont typeface="Open Sans"/>
              <a:buChar char="●"/>
            </a:pPr>
            <a:r>
              <a:rPr lang="en"/>
              <a:t>To evaluate how multiple clinical variables relate to CKD status using a </a:t>
            </a:r>
            <a:r>
              <a:rPr b="1" lang="en">
                <a:solidFill>
                  <a:srgbClr val="CC0000"/>
                </a:solidFill>
              </a:rPr>
              <a:t>multivariable logistic regression model.</a:t>
            </a:r>
            <a:endParaRPr b="1">
              <a:solidFill>
                <a:srgbClr val="CC0000"/>
              </a:solidFill>
            </a:endParaRPr>
          </a:p>
          <a:p>
            <a:pPr indent="-317500" lvl="0" marL="457200" rtl="0" algn="l">
              <a:spcBef>
                <a:spcPts val="0"/>
              </a:spcBef>
              <a:spcAft>
                <a:spcPts val="0"/>
              </a:spcAft>
              <a:buSzPts val="1400"/>
              <a:buFont typeface="Open Sans"/>
              <a:buChar char="●"/>
            </a:pPr>
            <a:r>
              <a:rPr lang="en"/>
              <a:t>CKD is binary, and predictors are both continuous and categorical, motivating logistic regression.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t>Multivariate Logistic Regression Workflow</a:t>
            </a:r>
            <a:endParaRPr b="1"/>
          </a:p>
          <a:p>
            <a:pPr indent="0" lvl="0" marL="457200" rtl="0" algn="l">
              <a:spcBef>
                <a:spcPts val="0"/>
              </a:spcBef>
              <a:spcAft>
                <a:spcPts val="0"/>
              </a:spcAft>
              <a:buNone/>
            </a:pPr>
            <a:r>
              <a:rPr lang="en">
                <a:latin typeface="Arial"/>
                <a:ea typeface="Arial"/>
                <a:cs typeface="Arial"/>
                <a:sym typeface="Arial"/>
              </a:rPr>
              <a:t>Step 1: Fit an </a:t>
            </a:r>
            <a:r>
              <a:rPr b="1" lang="en">
                <a:latin typeface="Arial"/>
                <a:ea typeface="Arial"/>
                <a:cs typeface="Arial"/>
                <a:sym typeface="Arial"/>
              </a:rPr>
              <a:t>initial logistic regression</a:t>
            </a:r>
            <a:r>
              <a:rPr lang="en">
                <a:latin typeface="Arial"/>
                <a:ea typeface="Arial"/>
                <a:cs typeface="Arial"/>
                <a:sym typeface="Arial"/>
              </a:rPr>
              <a:t> with all selected predictors.</a:t>
            </a:r>
            <a:endParaRPr>
              <a:latin typeface="Arial"/>
              <a:ea typeface="Arial"/>
              <a:cs typeface="Arial"/>
              <a:sym typeface="Arial"/>
            </a:endParaRPr>
          </a:p>
          <a:p>
            <a:pPr indent="0" lvl="0" marL="457200" rtl="0" algn="l">
              <a:spcBef>
                <a:spcPts val="0"/>
              </a:spcBef>
              <a:spcAft>
                <a:spcPts val="0"/>
              </a:spcAft>
              <a:buNone/>
            </a:pPr>
            <a:r>
              <a:rPr lang="en">
                <a:latin typeface="Arial"/>
                <a:ea typeface="Arial"/>
                <a:cs typeface="Arial"/>
                <a:sym typeface="Arial"/>
              </a:rPr>
              <a:t>Step 2: Remove highly correlated variables using </a:t>
            </a:r>
            <a:r>
              <a:rPr b="1" lang="en">
                <a:solidFill>
                  <a:srgbClr val="CC0000"/>
                </a:solidFill>
                <a:latin typeface="Arial"/>
                <a:ea typeface="Arial"/>
                <a:cs typeface="Arial"/>
                <a:sym typeface="Arial"/>
              </a:rPr>
              <a:t>VIF screening</a:t>
            </a:r>
            <a:r>
              <a:rPr lang="en">
                <a:solidFill>
                  <a:srgbClr val="CC0000"/>
                </a:solidFill>
                <a:latin typeface="Arial"/>
                <a:ea typeface="Arial"/>
                <a:cs typeface="Arial"/>
                <a:sym typeface="Arial"/>
              </a:rPr>
              <a:t>.</a:t>
            </a:r>
            <a:endParaRPr>
              <a:solidFill>
                <a:srgbClr val="CC0000"/>
              </a:solidFill>
              <a:latin typeface="Arial"/>
              <a:ea typeface="Arial"/>
              <a:cs typeface="Arial"/>
              <a:sym typeface="Arial"/>
            </a:endParaRPr>
          </a:p>
          <a:p>
            <a:pPr indent="0" lvl="0" marL="457200" rtl="0" algn="l">
              <a:spcBef>
                <a:spcPts val="0"/>
              </a:spcBef>
              <a:spcAft>
                <a:spcPts val="0"/>
              </a:spcAft>
              <a:buNone/>
            </a:pPr>
            <a:r>
              <a:rPr lang="en">
                <a:latin typeface="Arial"/>
                <a:ea typeface="Arial"/>
                <a:cs typeface="Arial"/>
                <a:sym typeface="Arial"/>
              </a:rPr>
              <a:t>Step 3: Use </a:t>
            </a:r>
            <a:r>
              <a:rPr b="1" lang="en">
                <a:solidFill>
                  <a:srgbClr val="CC0000"/>
                </a:solidFill>
                <a:latin typeface="Arial"/>
                <a:ea typeface="Arial"/>
                <a:cs typeface="Arial"/>
                <a:sym typeface="Arial"/>
              </a:rPr>
              <a:t>stepwise AIC</a:t>
            </a:r>
            <a:r>
              <a:rPr lang="en">
                <a:latin typeface="Arial"/>
                <a:ea typeface="Arial"/>
                <a:cs typeface="Arial"/>
                <a:sym typeface="Arial"/>
              </a:rPr>
              <a:t> to obtain a stable, parsimonious final model.</a:t>
            </a:r>
            <a:endParaRPr>
              <a:latin typeface="Arial"/>
              <a:ea typeface="Arial"/>
              <a:cs typeface="Arial"/>
              <a:sym typeface="Arial"/>
            </a:endParaRPr>
          </a:p>
          <a:p>
            <a:pPr indent="0" lvl="0" marL="457200" rtl="0" algn="l">
              <a:spcBef>
                <a:spcPts val="0"/>
              </a:spcBef>
              <a:spcAft>
                <a:spcPts val="0"/>
              </a:spcAft>
              <a:buNone/>
            </a:pPr>
            <a:r>
              <a:rPr lang="en">
                <a:latin typeface="Arial"/>
                <a:ea typeface="Arial"/>
                <a:cs typeface="Arial"/>
                <a:sym typeface="Arial"/>
              </a:rPr>
              <a:t>Step 4: Refit the final model under </a:t>
            </a:r>
            <a:r>
              <a:rPr b="1" lang="en">
                <a:latin typeface="Arial"/>
                <a:ea typeface="Arial"/>
                <a:cs typeface="Arial"/>
                <a:sym typeface="Arial"/>
              </a:rPr>
              <a:t>Complete, MCAR, and MNAR</a:t>
            </a:r>
            <a:r>
              <a:rPr lang="en">
                <a:latin typeface="Arial"/>
                <a:ea typeface="Arial"/>
                <a:cs typeface="Arial"/>
                <a:sym typeface="Arial"/>
              </a:rPr>
              <a:t> settings to examine robustness.</a:t>
            </a:r>
            <a:endParaRPr/>
          </a:p>
          <a:p>
            <a:pPr indent="0" lvl="0" marL="45720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t>Missing Data Handling (KNN Imputation)</a:t>
            </a:r>
            <a:endParaRPr b="1"/>
          </a:p>
          <a:p>
            <a:pPr indent="-317500" lvl="0" marL="457200" rtl="0" algn="l">
              <a:spcBef>
                <a:spcPts val="0"/>
              </a:spcBef>
              <a:spcAft>
                <a:spcPts val="0"/>
              </a:spcAft>
              <a:buSzPts val="1400"/>
              <a:buFont typeface="Arial"/>
              <a:buChar char="●"/>
            </a:pPr>
            <a:r>
              <a:rPr lang="en">
                <a:latin typeface="Arial"/>
                <a:ea typeface="Arial"/>
                <a:cs typeface="Arial"/>
                <a:sym typeface="Arial"/>
              </a:rPr>
              <a:t>Several predictors (e.g., rbc, rbcc, wbcc) showed high and CKD-biased missingness, making listwise deletion unsuitable.</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Continuous predictors were standardized, and missing values were imputed via KNN (k = 5).</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The same KNN procedure was applied in MCAR and MNAR simulations for consistency.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0" y="0"/>
            <a:ext cx="8520600" cy="65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Step 1 —</a:t>
            </a:r>
            <a:r>
              <a:rPr b="1" lang="en" sz="3000"/>
              <a:t>H₂:</a:t>
            </a:r>
            <a:r>
              <a:rPr b="1" lang="en" sz="3000"/>
              <a:t> Initial Logistic Regression Model Construction</a:t>
            </a:r>
            <a:endParaRPr b="1" sz="3000"/>
          </a:p>
        </p:txBody>
      </p:sp>
      <p:sp>
        <p:nvSpPr>
          <p:cNvPr id="118" name="Google Shape;118;p21"/>
          <p:cNvSpPr txBox="1"/>
          <p:nvPr>
            <p:ph idx="1" type="body"/>
          </p:nvPr>
        </p:nvSpPr>
        <p:spPr>
          <a:xfrm>
            <a:off x="0" y="658800"/>
            <a:ext cx="9144000" cy="45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Full Logistic Model Setup</a:t>
            </a:r>
            <a:endParaRPr b="1"/>
          </a:p>
          <a:p>
            <a:pPr indent="-317500" lvl="0" marL="457200" rtl="0" algn="l">
              <a:spcBef>
                <a:spcPts val="0"/>
              </a:spcBef>
              <a:spcAft>
                <a:spcPts val="0"/>
              </a:spcAft>
              <a:buSzPts val="1400"/>
              <a:buFont typeface="Open Sans"/>
              <a:buChar char="●"/>
            </a:pPr>
            <a:r>
              <a:rPr lang="en"/>
              <a:t>Built a full initial model by including all clinically relevant predictors associated with CKD.</a:t>
            </a:r>
            <a:endParaRPr/>
          </a:p>
          <a:p>
            <a:pPr indent="-317500" lvl="0" marL="457200" rtl="0" algn="l">
              <a:spcBef>
                <a:spcPts val="0"/>
              </a:spcBef>
              <a:spcAft>
                <a:spcPts val="0"/>
              </a:spcAft>
              <a:buSzPts val="1400"/>
              <a:buFont typeface="Arial"/>
              <a:buChar char="●"/>
            </a:pPr>
            <a:r>
              <a:rPr b="1" lang="en"/>
              <a:t>12 predictors included </a:t>
            </a:r>
            <a:r>
              <a:rPr lang="en"/>
              <a:t> → Cover renal function, hematologic/metabolic markers, clinical symptoms, and major comorbidities.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400"/>
              </a:spcBef>
              <a:spcAft>
                <a:spcPts val="0"/>
              </a:spcAft>
              <a:buNone/>
            </a:pPr>
            <a:r>
              <a:t/>
            </a:r>
            <a:endParaRPr b="1"/>
          </a:p>
          <a:p>
            <a:pPr indent="0" lvl="0" marL="0" rtl="0" algn="l">
              <a:spcBef>
                <a:spcPts val="40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Categorical Variable Encoding</a:t>
            </a:r>
            <a:endParaRPr b="1"/>
          </a:p>
          <a:p>
            <a:pPr indent="-317500" lvl="0" marL="457200" rtl="0" algn="l">
              <a:spcBef>
                <a:spcPts val="0"/>
              </a:spcBef>
              <a:spcAft>
                <a:spcPts val="0"/>
              </a:spcAft>
              <a:buSzPts val="1400"/>
              <a:buFont typeface="Open Sans"/>
              <a:buChar char="●"/>
            </a:pPr>
            <a:r>
              <a:rPr lang="en"/>
              <a:t>appet / htn / dm / ane → converted to binary dummy variables (drop-first)</a:t>
            </a:r>
            <a:endParaRPr/>
          </a:p>
          <a:p>
            <a:pPr indent="-317500" lvl="0" marL="457200" rtl="0" algn="l">
              <a:spcBef>
                <a:spcPts val="0"/>
              </a:spcBef>
              <a:spcAft>
                <a:spcPts val="0"/>
              </a:spcAft>
              <a:buSzPts val="1400"/>
              <a:buFont typeface="Open Sans"/>
              <a:buChar char="●"/>
            </a:pPr>
            <a:r>
              <a:rPr lang="en"/>
              <a:t>Ensures interpretable logistic regression coefficients and reduces multicollinearity.</a:t>
            </a:r>
            <a:endParaRPr/>
          </a:p>
          <a:p>
            <a:pPr indent="0" lvl="0" marL="0" rtl="0" algn="l">
              <a:spcBef>
                <a:spcPts val="0"/>
              </a:spcBef>
              <a:spcAft>
                <a:spcPts val="0"/>
              </a:spcAft>
              <a:buNone/>
            </a:pPr>
            <a:r>
              <a:rPr b="1" lang="en">
                <a:solidFill>
                  <a:srgbClr val="CC0000"/>
                </a:solidFill>
              </a:rPr>
              <a:t>→To construct a complete baseline model without losing information, providing a solid foundation for model refinement in Step 2 (VIF screening) and Step 3 (AIC selection).</a:t>
            </a:r>
            <a:endParaRPr b="1">
              <a:solidFill>
                <a:srgbClr val="CC0000"/>
              </a:solidFill>
            </a:endParaRPr>
          </a:p>
          <a:p>
            <a:pPr indent="0" lvl="0" marL="0" rtl="0" algn="l">
              <a:spcBef>
                <a:spcPts val="0"/>
              </a:spcBef>
              <a:spcAft>
                <a:spcPts val="0"/>
              </a:spcAft>
              <a:buNone/>
            </a:pPr>
            <a:r>
              <a:t/>
            </a:r>
            <a:endParaRPr/>
          </a:p>
        </p:txBody>
      </p:sp>
      <p:graphicFrame>
        <p:nvGraphicFramePr>
          <p:cNvPr id="119" name="Google Shape;119;p21"/>
          <p:cNvGraphicFramePr/>
          <p:nvPr/>
        </p:nvGraphicFramePr>
        <p:xfrm>
          <a:off x="0" y="1699613"/>
          <a:ext cx="3000000" cy="3000000"/>
        </p:xfrm>
        <a:graphic>
          <a:graphicData uri="http://schemas.openxmlformats.org/drawingml/2006/table">
            <a:tbl>
              <a:tblPr>
                <a:noFill/>
                <a:tableStyleId>{55E01E76-4A0D-48A9-99F5-58231DABA9FB}</a:tableStyleId>
              </a:tblPr>
              <a:tblGrid>
                <a:gridCol w="1617725"/>
                <a:gridCol w="789550"/>
                <a:gridCol w="3148925"/>
              </a:tblGrid>
              <a:tr h="384850">
                <a:tc>
                  <a:txBody>
                    <a:bodyPr/>
                    <a:lstStyle/>
                    <a:p>
                      <a:pPr indent="0" lvl="0" marL="0" rtl="0" algn="ctr">
                        <a:lnSpc>
                          <a:spcPct val="115000"/>
                        </a:lnSpc>
                        <a:spcBef>
                          <a:spcPts val="0"/>
                        </a:spcBef>
                        <a:spcAft>
                          <a:spcPts val="0"/>
                        </a:spcAft>
                        <a:buNone/>
                      </a:pPr>
                      <a:r>
                        <a:rPr b="1" lang="en" sz="800">
                          <a:latin typeface="Open Sans"/>
                          <a:ea typeface="Open Sans"/>
                          <a:cs typeface="Open Sans"/>
                          <a:sym typeface="Open Sans"/>
                        </a:rPr>
                        <a:t>Category</a:t>
                      </a:r>
                      <a:endParaRPr b="1" sz="800">
                        <a:latin typeface="Open Sans"/>
                        <a:ea typeface="Open Sans"/>
                        <a:cs typeface="Open Sans"/>
                        <a:sym typeface="Open Sans"/>
                      </a:endParaRPr>
                    </a:p>
                  </a:txBody>
                  <a:tcPr marT="91425" marB="91425" marR="91425" marL="91425"/>
                </a:tc>
                <a:tc>
                  <a:txBody>
                    <a:bodyPr/>
                    <a:lstStyle/>
                    <a:p>
                      <a:pPr indent="0" lvl="0" marL="0" rtl="0" algn="ctr">
                        <a:lnSpc>
                          <a:spcPct val="115000"/>
                        </a:lnSpc>
                        <a:spcBef>
                          <a:spcPts val="0"/>
                        </a:spcBef>
                        <a:spcAft>
                          <a:spcPts val="0"/>
                        </a:spcAft>
                        <a:buNone/>
                      </a:pPr>
                      <a:r>
                        <a:rPr b="1" lang="en" sz="800">
                          <a:latin typeface="Open Sans"/>
                          <a:ea typeface="Open Sans"/>
                          <a:cs typeface="Open Sans"/>
                          <a:sym typeface="Open Sans"/>
                        </a:rPr>
                        <a:t>Variables</a:t>
                      </a:r>
                      <a:endParaRPr b="1" sz="800">
                        <a:latin typeface="Open Sans"/>
                        <a:ea typeface="Open Sans"/>
                        <a:cs typeface="Open Sans"/>
                        <a:sym typeface="Open Sans"/>
                      </a:endParaRPr>
                    </a:p>
                  </a:txBody>
                  <a:tcPr marT="91425" marB="91425" marR="91425" marL="91425"/>
                </a:tc>
                <a:tc>
                  <a:txBody>
                    <a:bodyPr/>
                    <a:lstStyle/>
                    <a:p>
                      <a:pPr indent="0" lvl="0" marL="0" rtl="0" algn="ctr">
                        <a:lnSpc>
                          <a:spcPct val="115000"/>
                        </a:lnSpc>
                        <a:spcBef>
                          <a:spcPts val="0"/>
                        </a:spcBef>
                        <a:spcAft>
                          <a:spcPts val="0"/>
                        </a:spcAft>
                        <a:buNone/>
                      </a:pPr>
                      <a:r>
                        <a:rPr b="1" lang="en" sz="800">
                          <a:latin typeface="Open Sans"/>
                          <a:ea typeface="Open Sans"/>
                          <a:cs typeface="Open Sans"/>
                          <a:sym typeface="Open Sans"/>
                        </a:rPr>
                        <a:t>Rationale</a:t>
                      </a:r>
                      <a:endParaRPr b="1" sz="800">
                        <a:latin typeface="Open Sans"/>
                        <a:ea typeface="Open Sans"/>
                        <a:cs typeface="Open Sans"/>
                        <a:sym typeface="Open Sans"/>
                      </a:endParaRPr>
                    </a:p>
                  </a:txBody>
                  <a:tcPr marT="91425" marB="91425" marR="91425" marL="91425"/>
                </a:tc>
              </a:tr>
              <a:tr h="123100">
                <a:tc>
                  <a:txBody>
                    <a:bodyPr/>
                    <a:lstStyle/>
                    <a:p>
                      <a:pPr indent="0" lvl="0" marL="0" rtl="0" algn="l">
                        <a:spcBef>
                          <a:spcPts val="0"/>
                        </a:spcBef>
                        <a:spcAft>
                          <a:spcPts val="0"/>
                        </a:spcAft>
                        <a:buNone/>
                      </a:pPr>
                      <a:r>
                        <a:rPr b="1" lang="en" sz="800">
                          <a:latin typeface="Open Sans"/>
                          <a:ea typeface="Open Sans"/>
                          <a:cs typeface="Open Sans"/>
                          <a:sym typeface="Open Sans"/>
                        </a:rPr>
                        <a:t>1. Renal Function Indicators</a:t>
                      </a:r>
                      <a:endParaRPr b="1"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sg, sc, al, bu</a:t>
                      </a:r>
                      <a:endParaRPr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Directly reflect CKD severity and kidney filtration/concentration capacity</a:t>
                      </a:r>
                      <a:endParaRPr sz="800">
                        <a:latin typeface="Open Sans"/>
                        <a:ea typeface="Open Sans"/>
                        <a:cs typeface="Open Sans"/>
                        <a:sym typeface="Open Sans"/>
                      </a:endParaRPr>
                    </a:p>
                  </a:txBody>
                  <a:tcPr marT="91425" marB="91425" marR="91425" marL="91425"/>
                </a:tc>
              </a:tr>
              <a:tr h="123100">
                <a:tc>
                  <a:txBody>
                    <a:bodyPr/>
                    <a:lstStyle/>
                    <a:p>
                      <a:pPr indent="0" lvl="0" marL="0" rtl="0" algn="l">
                        <a:spcBef>
                          <a:spcPts val="0"/>
                        </a:spcBef>
                        <a:spcAft>
                          <a:spcPts val="0"/>
                        </a:spcAft>
                        <a:buNone/>
                      </a:pPr>
                      <a:r>
                        <a:rPr b="1" lang="en" sz="800">
                          <a:latin typeface="Open Sans"/>
                          <a:ea typeface="Open Sans"/>
                          <a:cs typeface="Open Sans"/>
                          <a:sym typeface="Open Sans"/>
                        </a:rPr>
                        <a:t>2. Hematologic &amp; Metabolic Status</a:t>
                      </a:r>
                      <a:endParaRPr b="1"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hemo, bgr</a:t>
                      </a:r>
                      <a:endParaRPr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Capture anemia and metabolic abnormalities strongly linked to CKD</a:t>
                      </a:r>
                      <a:endParaRPr sz="800">
                        <a:latin typeface="Open Sans"/>
                        <a:ea typeface="Open Sans"/>
                        <a:cs typeface="Open Sans"/>
                        <a:sym typeface="Open Sans"/>
                      </a:endParaRPr>
                    </a:p>
                  </a:txBody>
                  <a:tcPr marT="91425" marB="91425" marR="91425" marL="91425"/>
                </a:tc>
              </a:tr>
              <a:tr h="123100">
                <a:tc>
                  <a:txBody>
                    <a:bodyPr/>
                    <a:lstStyle/>
                    <a:p>
                      <a:pPr indent="0" lvl="0" marL="0" rtl="0" algn="l">
                        <a:spcBef>
                          <a:spcPts val="0"/>
                        </a:spcBef>
                        <a:spcAft>
                          <a:spcPts val="0"/>
                        </a:spcAft>
                        <a:buNone/>
                      </a:pPr>
                      <a:r>
                        <a:rPr b="1" lang="en" sz="800">
                          <a:latin typeface="Open Sans"/>
                          <a:ea typeface="Open Sans"/>
                          <a:cs typeface="Open Sans"/>
                          <a:sym typeface="Open Sans"/>
                        </a:rPr>
                        <a:t>3. Clinical Symptom Indicators</a:t>
                      </a:r>
                      <a:endParaRPr b="1"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appet, ane</a:t>
                      </a:r>
                      <a:endParaRPr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Represent appetite loss and anemia-related symptoms commonly seen in CKD</a:t>
                      </a:r>
                      <a:endParaRPr sz="800">
                        <a:latin typeface="Open Sans"/>
                        <a:ea typeface="Open Sans"/>
                        <a:cs typeface="Open Sans"/>
                        <a:sym typeface="Open Sans"/>
                      </a:endParaRPr>
                    </a:p>
                  </a:txBody>
                  <a:tcPr marT="91425" marB="91425" marR="91425" marL="91425"/>
                </a:tc>
              </a:tr>
              <a:tr h="123100">
                <a:tc>
                  <a:txBody>
                    <a:bodyPr/>
                    <a:lstStyle/>
                    <a:p>
                      <a:pPr indent="0" lvl="0" marL="0" rtl="0" algn="l">
                        <a:spcBef>
                          <a:spcPts val="0"/>
                        </a:spcBef>
                        <a:spcAft>
                          <a:spcPts val="0"/>
                        </a:spcAft>
                        <a:buNone/>
                      </a:pPr>
                      <a:r>
                        <a:rPr b="1" lang="en" sz="800">
                          <a:latin typeface="Open Sans"/>
                          <a:ea typeface="Open Sans"/>
                          <a:cs typeface="Open Sans"/>
                          <a:sym typeface="Open Sans"/>
                        </a:rPr>
                        <a:t>4. Demographics &amp; Comorbidities</a:t>
                      </a:r>
                      <a:endParaRPr b="1"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age, bp, dm, htn</a:t>
                      </a:r>
                      <a:endParaRPr sz="8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800">
                          <a:latin typeface="Open Sans"/>
                          <a:ea typeface="Open Sans"/>
                          <a:cs typeface="Open Sans"/>
                          <a:sym typeface="Open Sans"/>
                        </a:rPr>
                        <a:t>Include baseline characteristics and major CKD risk factors</a:t>
                      </a:r>
                      <a:endParaRPr sz="800">
                        <a:latin typeface="Open Sans"/>
                        <a:ea typeface="Open Sans"/>
                        <a:cs typeface="Open Sans"/>
                        <a:sym typeface="Open Sans"/>
                      </a:endParaRPr>
                    </a:p>
                  </a:txBody>
                  <a:tcPr marT="91425" marB="91425" marR="91425" marL="91425"/>
                </a:tc>
              </a:tr>
            </a:tbl>
          </a:graphicData>
        </a:graphic>
      </p:graphicFrame>
      <p:pic>
        <p:nvPicPr>
          <p:cNvPr id="120" name="Google Shape;120;p21"/>
          <p:cNvPicPr preferRelativeResize="0"/>
          <p:nvPr/>
        </p:nvPicPr>
        <p:blipFill>
          <a:blip r:embed="rId3">
            <a:alphaModFix/>
          </a:blip>
          <a:stretch>
            <a:fillRect/>
          </a:stretch>
        </p:blipFill>
        <p:spPr>
          <a:xfrm>
            <a:off x="5777325" y="1495525"/>
            <a:ext cx="3044449" cy="2643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0" y="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Step 2 — </a:t>
            </a:r>
            <a:r>
              <a:rPr b="1" lang="en" sz="3000"/>
              <a:t>H₂</a:t>
            </a:r>
            <a:r>
              <a:rPr b="1" lang="en" sz="3000"/>
              <a:t>: Multicollinearity Check (VIF)</a:t>
            </a:r>
            <a:endParaRPr b="1" sz="3000"/>
          </a:p>
        </p:txBody>
      </p:sp>
      <p:sp>
        <p:nvSpPr>
          <p:cNvPr id="126" name="Google Shape;126;p22"/>
          <p:cNvSpPr txBox="1"/>
          <p:nvPr>
            <p:ph idx="1" type="body"/>
          </p:nvPr>
        </p:nvSpPr>
        <p:spPr>
          <a:xfrm>
            <a:off x="51525" y="780400"/>
            <a:ext cx="4096800" cy="43632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b="1" lang="en"/>
              <a:t>Purpose </a:t>
            </a:r>
            <a:endParaRPr b="1"/>
          </a:p>
          <a:p>
            <a:pPr indent="-317500" lvl="0" marL="457200" rtl="0" algn="l">
              <a:spcBef>
                <a:spcPts val="1000"/>
              </a:spcBef>
              <a:spcAft>
                <a:spcPts val="0"/>
              </a:spcAft>
              <a:buSzPts val="1400"/>
              <a:buChar char="●"/>
            </a:pPr>
            <a:r>
              <a:rPr lang="en"/>
              <a:t>Check whether strongly correlated predictors (observed in the EDA heatmap) may introduce </a:t>
            </a:r>
            <a:r>
              <a:rPr b="1" lang="en"/>
              <a:t>multicollinearity</a:t>
            </a:r>
            <a:endParaRPr/>
          </a:p>
          <a:p>
            <a:pPr indent="0" lvl="0" marL="457200" rtl="0" algn="l">
              <a:spcBef>
                <a:spcPts val="1000"/>
              </a:spcBef>
              <a:spcAft>
                <a:spcPts val="0"/>
              </a:spcAft>
              <a:buNone/>
            </a:pPr>
            <a:r>
              <a:rPr b="1" lang="en">
                <a:solidFill>
                  <a:srgbClr val="CC0000"/>
                </a:solidFill>
              </a:rPr>
              <a:t>→ As several variable pairs (e.g., hemo–pcv, bu–sc) showed high correlation, raising the need for a formal diagnostic check.</a:t>
            </a:r>
            <a:endParaRPr b="1">
              <a:solidFill>
                <a:srgbClr val="CC0000"/>
              </a:solidFill>
            </a:endParaRPr>
          </a:p>
          <a:p>
            <a:pPr indent="0" lvl="0" marL="0" rtl="0" algn="l">
              <a:spcBef>
                <a:spcPts val="1400"/>
              </a:spcBef>
              <a:spcAft>
                <a:spcPts val="0"/>
              </a:spcAft>
              <a:buNone/>
            </a:pPr>
            <a:r>
              <a:rPr b="1" lang="en"/>
              <a:t>Multicollinearity?</a:t>
            </a:r>
            <a:r>
              <a:rPr b="1" lang="en">
                <a:solidFill>
                  <a:srgbClr val="CC0000"/>
                </a:solidFill>
              </a:rPr>
              <a:t> </a:t>
            </a:r>
            <a:endParaRPr b="1">
              <a:solidFill>
                <a:srgbClr val="CC0000"/>
              </a:solidFill>
            </a:endParaRPr>
          </a:p>
          <a:p>
            <a:pPr indent="-317500" lvl="0" marL="457200" rtl="0" algn="l">
              <a:spcBef>
                <a:spcPts val="1400"/>
              </a:spcBef>
              <a:spcAft>
                <a:spcPts val="0"/>
              </a:spcAft>
              <a:buSzPts val="1400"/>
              <a:buChar char="●"/>
            </a:pPr>
            <a:r>
              <a:rPr lang="en"/>
              <a:t>predictors being highly correlated with each other, leading to unstable or inflated coefficient estimates.</a:t>
            </a:r>
            <a:endParaRPr/>
          </a:p>
          <a:p>
            <a:pPr indent="0" lvl="0" marL="457200" rtl="0" algn="l">
              <a:spcBef>
                <a:spcPts val="1400"/>
              </a:spcBef>
              <a:spcAft>
                <a:spcPts val="0"/>
              </a:spcAft>
              <a:buNone/>
            </a:pPr>
            <a:r>
              <a:t/>
            </a:r>
            <a:endParaRPr/>
          </a:p>
          <a:p>
            <a:pPr indent="0" lvl="0" marL="0" rtl="0" algn="l">
              <a:spcBef>
                <a:spcPts val="1200"/>
              </a:spcBef>
              <a:spcAft>
                <a:spcPts val="1200"/>
              </a:spcAft>
              <a:buNone/>
            </a:pPr>
            <a:r>
              <a:t/>
            </a:r>
            <a:endParaRPr/>
          </a:p>
        </p:txBody>
      </p:sp>
      <p:sp>
        <p:nvSpPr>
          <p:cNvPr id="127" name="Google Shape;127;p22"/>
          <p:cNvSpPr txBox="1"/>
          <p:nvPr>
            <p:ph idx="2" type="body"/>
          </p:nvPr>
        </p:nvSpPr>
        <p:spPr>
          <a:xfrm>
            <a:off x="4228200" y="2268300"/>
            <a:ext cx="4915800" cy="28752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a:t>VIF Results</a:t>
            </a:r>
            <a:endParaRPr b="1"/>
          </a:p>
          <a:p>
            <a:pPr indent="-317500" lvl="0" marL="457200" rtl="0" algn="l">
              <a:spcBef>
                <a:spcPts val="1200"/>
              </a:spcBef>
              <a:spcAft>
                <a:spcPts val="0"/>
              </a:spcAft>
              <a:buSzPts val="1400"/>
              <a:buFont typeface="Open Sans"/>
              <a:buChar char="●"/>
            </a:pPr>
            <a:r>
              <a:rPr lang="en"/>
              <a:t>VIF computed for all 12 predictors</a:t>
            </a:r>
            <a:endParaRPr/>
          </a:p>
          <a:p>
            <a:pPr indent="-317500" lvl="0" marL="457200" rtl="0" algn="l">
              <a:spcBef>
                <a:spcPts val="0"/>
              </a:spcBef>
              <a:spcAft>
                <a:spcPts val="0"/>
              </a:spcAft>
              <a:buSzPts val="1400"/>
              <a:buFont typeface="Open Sans"/>
              <a:buChar char="●"/>
            </a:pPr>
            <a:r>
              <a:rPr lang="en"/>
              <a:t>All values between 1.1 and 3.1</a:t>
            </a:r>
            <a:endParaRPr/>
          </a:p>
          <a:p>
            <a:pPr indent="-317500" lvl="0" marL="457200" rtl="0" algn="l">
              <a:spcBef>
                <a:spcPts val="0"/>
              </a:spcBef>
              <a:spcAft>
                <a:spcPts val="0"/>
              </a:spcAft>
              <a:buSzPts val="1400"/>
              <a:buFont typeface="Arial"/>
              <a:buChar char="●"/>
            </a:pPr>
            <a:r>
              <a:rPr lang="en"/>
              <a:t>No variable exceeded the threshold (VIF &gt; 10)</a:t>
            </a:r>
            <a:br>
              <a:rPr b="1" lang="en"/>
            </a:br>
            <a:r>
              <a:rPr b="1" lang="en">
                <a:solidFill>
                  <a:srgbClr val="CC0000"/>
                </a:solidFill>
              </a:rPr>
              <a:t> → No predictors removed in this step</a:t>
            </a:r>
            <a:endParaRPr b="1">
              <a:solidFill>
                <a:srgbClr val="CC0000"/>
              </a:solidFill>
            </a:endParaRPr>
          </a:p>
          <a:p>
            <a:pPr indent="0" lvl="0" marL="0" rtl="0" algn="l">
              <a:spcBef>
                <a:spcPts val="1400"/>
              </a:spcBef>
              <a:spcAft>
                <a:spcPts val="0"/>
              </a:spcAft>
              <a:buClr>
                <a:schemeClr val="dk1"/>
              </a:buClr>
              <a:buSzPts val="1100"/>
              <a:buFont typeface="Arial"/>
              <a:buNone/>
            </a:pPr>
            <a:r>
              <a:rPr b="1" lang="en"/>
              <a:t>Interpretation</a:t>
            </a:r>
            <a:endParaRPr b="1"/>
          </a:p>
          <a:p>
            <a:pPr indent="-317500" lvl="0" marL="457200" rtl="0" algn="l">
              <a:spcBef>
                <a:spcPts val="1200"/>
              </a:spcBef>
              <a:spcAft>
                <a:spcPts val="0"/>
              </a:spcAft>
              <a:buSzPts val="1400"/>
              <a:buFont typeface="Open Sans"/>
              <a:buChar char="●"/>
            </a:pPr>
            <a:r>
              <a:rPr lang="en"/>
              <a:t>Predictors contribute independently</a:t>
            </a:r>
            <a:endParaRPr/>
          </a:p>
          <a:p>
            <a:pPr indent="-317500" lvl="0" marL="457200" rtl="0" algn="l">
              <a:spcBef>
                <a:spcPts val="0"/>
              </a:spcBef>
              <a:spcAft>
                <a:spcPts val="0"/>
              </a:spcAft>
              <a:buSzPts val="1400"/>
              <a:buFont typeface="Open Sans"/>
              <a:buChar char="●"/>
            </a:pPr>
            <a:r>
              <a:rPr lang="en"/>
              <a:t>Coefficient estimates are stable and suitable for AIC-based reduction in Step 3</a:t>
            </a:r>
            <a:endParaRPr/>
          </a:p>
        </p:txBody>
      </p:sp>
      <p:pic>
        <p:nvPicPr>
          <p:cNvPr id="128" name="Google Shape;128;p22"/>
          <p:cNvPicPr preferRelativeResize="0"/>
          <p:nvPr/>
        </p:nvPicPr>
        <p:blipFill>
          <a:blip r:embed="rId3">
            <a:alphaModFix/>
          </a:blip>
          <a:stretch>
            <a:fillRect/>
          </a:stretch>
        </p:blipFill>
        <p:spPr>
          <a:xfrm>
            <a:off x="5394525" y="0"/>
            <a:ext cx="3088950" cy="2345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0" y="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Step 3 — H₂</a:t>
            </a:r>
            <a:r>
              <a:rPr b="1" lang="en" sz="3000"/>
              <a:t>: Model Selection via Stepwise AIC</a:t>
            </a:r>
            <a:endParaRPr b="1" sz="3000"/>
          </a:p>
        </p:txBody>
      </p:sp>
      <p:sp>
        <p:nvSpPr>
          <p:cNvPr id="134" name="Google Shape;134;p23"/>
          <p:cNvSpPr txBox="1"/>
          <p:nvPr>
            <p:ph idx="1" type="body"/>
          </p:nvPr>
        </p:nvSpPr>
        <p:spPr>
          <a:xfrm>
            <a:off x="51525" y="780400"/>
            <a:ext cx="4192800" cy="42210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a:t>Purpose</a:t>
            </a:r>
            <a:endParaRPr b="1"/>
          </a:p>
          <a:p>
            <a:pPr indent="0" lvl="0" marL="0" rtl="0" algn="l">
              <a:spcBef>
                <a:spcPts val="1200"/>
              </a:spcBef>
              <a:spcAft>
                <a:spcPts val="0"/>
              </a:spcAft>
              <a:buNone/>
            </a:pPr>
            <a:r>
              <a:rPr lang="en"/>
              <a:t>Select a simpler and more stable CKD model by removing predictors that do not improve AIC</a:t>
            </a:r>
            <a:endParaRPr/>
          </a:p>
          <a:p>
            <a:pPr indent="0" lvl="0" marL="0" rtl="0" algn="l">
              <a:spcBef>
                <a:spcPts val="1200"/>
              </a:spcBef>
              <a:spcAft>
                <a:spcPts val="0"/>
              </a:spcAft>
              <a:buClr>
                <a:schemeClr val="dk1"/>
              </a:buClr>
              <a:buSzPts val="1100"/>
              <a:buFont typeface="Arial"/>
              <a:buNone/>
            </a:pPr>
            <a:r>
              <a:rPr lang="en"/>
              <a:t>→ </a:t>
            </a:r>
            <a:r>
              <a:rPr b="1" lang="en">
                <a:solidFill>
                  <a:srgbClr val="CC0000"/>
                </a:solidFill>
              </a:rPr>
              <a:t>Correlated predictors in EDA made it necessary to identify which variables truly contribute while avoiding overfitting.</a:t>
            </a:r>
            <a:endParaRPr b="1">
              <a:solidFill>
                <a:srgbClr val="CC0000"/>
              </a:solidFill>
            </a:endParaRPr>
          </a:p>
          <a:p>
            <a:pPr indent="0" lvl="0" marL="0" rtl="0" algn="l">
              <a:spcBef>
                <a:spcPts val="1400"/>
              </a:spcBef>
              <a:spcAft>
                <a:spcPts val="0"/>
              </a:spcAft>
              <a:buClr>
                <a:schemeClr val="dk1"/>
              </a:buClr>
              <a:buSzPts val="1100"/>
              <a:buFont typeface="Arial"/>
              <a:buNone/>
            </a:pPr>
            <a:r>
              <a:rPr b="1" lang="en"/>
              <a:t>What is Stepwise AIC?</a:t>
            </a:r>
            <a:endParaRPr b="1"/>
          </a:p>
          <a:p>
            <a:pPr indent="0" lvl="0" marL="0" rtl="0" algn="l">
              <a:spcBef>
                <a:spcPts val="1200"/>
              </a:spcBef>
              <a:spcAft>
                <a:spcPts val="1200"/>
              </a:spcAft>
              <a:buNone/>
            </a:pPr>
            <a:r>
              <a:rPr lang="en"/>
              <a:t>A variable-selection method that adds or removes predictors to find the model with the </a:t>
            </a:r>
            <a:r>
              <a:rPr b="1" lang="en"/>
              <a:t>lowest AIC</a:t>
            </a:r>
            <a:r>
              <a:rPr lang="en"/>
              <a:t>, balancing model fit and simplicity.</a:t>
            </a:r>
            <a:br>
              <a:rPr lang="en"/>
            </a:br>
            <a:r>
              <a:rPr b="1" lang="en">
                <a:solidFill>
                  <a:srgbClr val="CC0000"/>
                </a:solidFill>
              </a:rPr>
              <a:t> → Prevents overfitting and yields a small, stable set of key predictors.</a:t>
            </a:r>
            <a:endParaRPr b="1">
              <a:solidFill>
                <a:srgbClr val="CC0000"/>
              </a:solidFill>
            </a:endParaRPr>
          </a:p>
        </p:txBody>
      </p:sp>
      <p:sp>
        <p:nvSpPr>
          <p:cNvPr id="135" name="Google Shape;135;p23"/>
          <p:cNvSpPr txBox="1"/>
          <p:nvPr>
            <p:ph idx="2" type="body"/>
          </p:nvPr>
        </p:nvSpPr>
        <p:spPr>
          <a:xfrm>
            <a:off x="4356275" y="713700"/>
            <a:ext cx="5042700" cy="45531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
              <a:t>Process</a:t>
            </a:r>
            <a:endParaRPr b="1"/>
          </a:p>
          <a:p>
            <a:pPr indent="-317500" lvl="0" marL="457200" rtl="0" algn="l">
              <a:spcBef>
                <a:spcPts val="1200"/>
              </a:spcBef>
              <a:spcAft>
                <a:spcPts val="0"/>
              </a:spcAft>
              <a:buSzPts val="1400"/>
              <a:buFont typeface="Open Sans"/>
              <a:buAutoNum type="arabicPeriod"/>
            </a:pPr>
            <a:r>
              <a:rPr lang="en"/>
              <a:t>Begin with the full 12-predictor model.</a:t>
            </a:r>
            <a:endParaRPr/>
          </a:p>
          <a:p>
            <a:pPr indent="-317500" lvl="0" marL="457200" rtl="0" algn="l">
              <a:spcBef>
                <a:spcPts val="0"/>
              </a:spcBef>
              <a:spcAft>
                <a:spcPts val="0"/>
              </a:spcAft>
              <a:buSzPts val="1400"/>
              <a:buFont typeface="Open Sans"/>
              <a:buAutoNum type="arabicPeriod"/>
            </a:pPr>
            <a:r>
              <a:rPr lang="en"/>
              <a:t>Remove predictors that reduce AIC.</a:t>
            </a:r>
            <a:endParaRPr/>
          </a:p>
          <a:p>
            <a:pPr indent="-317500" lvl="0" marL="457200" rtl="0" algn="l">
              <a:spcBef>
                <a:spcPts val="0"/>
              </a:spcBef>
              <a:spcAft>
                <a:spcPts val="0"/>
              </a:spcAft>
              <a:buSzPts val="1400"/>
              <a:buFont typeface="Open Sans"/>
              <a:buAutoNum type="arabicPeriod"/>
            </a:pPr>
            <a:r>
              <a:rPr lang="en"/>
              <a:t>Stop when no further AIC improvement occurs.</a:t>
            </a:r>
            <a:endParaRPr/>
          </a:p>
          <a:p>
            <a:pPr indent="-317500" lvl="0" marL="457200" rtl="0" algn="l">
              <a:spcBef>
                <a:spcPts val="0"/>
              </a:spcBef>
              <a:spcAft>
                <a:spcPts val="0"/>
              </a:spcAft>
              <a:buSzPts val="1400"/>
              <a:buFont typeface="Open Sans"/>
              <a:buAutoNum type="arabicPeriod"/>
            </a:pPr>
            <a:r>
              <a:rPr b="1" lang="en">
                <a:solidFill>
                  <a:srgbClr val="CC0000"/>
                </a:solidFill>
              </a:rPr>
              <a:t>Stepwise AIC selected a 4-variable model as optimal</a:t>
            </a:r>
            <a:r>
              <a:rPr lang="en"/>
              <a: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In the next step, we examine why albumin (al), one of the selected variables, was removed despite improving AIC.</a:t>
            </a:r>
            <a:endParaRPr/>
          </a:p>
          <a:p>
            <a:pPr indent="0" lvl="0" marL="0" rtl="0" algn="l">
              <a:spcBef>
                <a:spcPts val="1200"/>
              </a:spcBef>
              <a:spcAft>
                <a:spcPts val="1200"/>
              </a:spcAft>
              <a:buNone/>
            </a:pPr>
            <a:r>
              <a:t/>
            </a:r>
            <a:endParaRPr>
              <a:solidFill>
                <a:srgbClr val="CC0000"/>
              </a:solidFill>
            </a:endParaRPr>
          </a:p>
        </p:txBody>
      </p:sp>
      <p:pic>
        <p:nvPicPr>
          <p:cNvPr id="136" name="Google Shape;136;p23"/>
          <p:cNvPicPr preferRelativeResize="0"/>
          <p:nvPr/>
        </p:nvPicPr>
        <p:blipFill>
          <a:blip r:embed="rId3">
            <a:alphaModFix/>
          </a:blip>
          <a:stretch>
            <a:fillRect/>
          </a:stretch>
        </p:blipFill>
        <p:spPr>
          <a:xfrm>
            <a:off x="4572000" y="2438400"/>
            <a:ext cx="4420725" cy="2060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0" y="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Step 3 — H₂:  Stepwise AIC- Why Albumin was Removed?</a:t>
            </a:r>
            <a:endParaRPr b="1" sz="3000"/>
          </a:p>
        </p:txBody>
      </p:sp>
      <p:sp>
        <p:nvSpPr>
          <p:cNvPr id="142" name="Google Shape;142;p24"/>
          <p:cNvSpPr txBox="1"/>
          <p:nvPr>
            <p:ph idx="1" type="body"/>
          </p:nvPr>
        </p:nvSpPr>
        <p:spPr>
          <a:xfrm>
            <a:off x="51525" y="684650"/>
            <a:ext cx="4787400" cy="4493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a:t>What we found</a:t>
            </a:r>
            <a:endParaRPr b="1"/>
          </a:p>
          <a:p>
            <a:pPr indent="-317500" lvl="0" marL="457200" rtl="0" algn="l">
              <a:spcBef>
                <a:spcPts val="1200"/>
              </a:spcBef>
              <a:spcAft>
                <a:spcPts val="0"/>
              </a:spcAft>
              <a:buSzPts val="1400"/>
              <a:buFont typeface="Open Sans"/>
              <a:buChar char="●"/>
            </a:pPr>
            <a:r>
              <a:rPr lang="en"/>
              <a:t>Albumin appeared useful (AIC ↓), but the data showed a near-perfect split.</a:t>
            </a:r>
            <a:endParaRPr/>
          </a:p>
          <a:p>
            <a:pPr indent="0" lvl="0" marL="0" rtl="0" algn="l">
              <a:spcBef>
                <a:spcPts val="1200"/>
              </a:spcBef>
              <a:spcAft>
                <a:spcPts val="0"/>
              </a:spcAft>
              <a:buClr>
                <a:schemeClr val="dk1"/>
              </a:buClr>
              <a:buSzPts val="1100"/>
              <a:buFont typeface="Arial"/>
              <a:buNone/>
            </a:pPr>
            <a:r>
              <a:rPr b="1" lang="en"/>
              <a:t>Separation issue</a:t>
            </a:r>
            <a:endParaRPr b="1"/>
          </a:p>
          <a:p>
            <a:pPr indent="-317500" lvl="0" marL="457200" rtl="0" algn="l">
              <a:spcBef>
                <a:spcPts val="1200"/>
              </a:spcBef>
              <a:spcAft>
                <a:spcPts val="0"/>
              </a:spcAft>
              <a:buSzPts val="1400"/>
              <a:buFont typeface="Arial"/>
              <a:buChar char="●"/>
            </a:pPr>
            <a:r>
              <a:rPr lang="en"/>
              <a:t>For al = 1–5, </a:t>
            </a:r>
            <a:r>
              <a:rPr b="1" lang="en"/>
              <a:t>all patients were CKD</a:t>
            </a:r>
            <a:r>
              <a:rPr lang="en"/>
              <a:t> (P = 1.0).</a:t>
            </a:r>
            <a:endParaRPr/>
          </a:p>
          <a:p>
            <a:pPr indent="-317500" lvl="0" marL="457200" rtl="0" algn="l">
              <a:spcBef>
                <a:spcPts val="0"/>
              </a:spcBef>
              <a:spcAft>
                <a:spcPts val="0"/>
              </a:spcAft>
              <a:buSzPts val="1400"/>
              <a:buFont typeface="Open Sans"/>
              <a:buChar char="●"/>
            </a:pPr>
            <a:r>
              <a:rPr lang="en"/>
              <a:t>Only al = 0 had mixed outcomes.</a:t>
            </a:r>
            <a:endParaRPr/>
          </a:p>
          <a:p>
            <a:pPr indent="0" lvl="0" marL="0" rtl="0" algn="l">
              <a:spcBef>
                <a:spcPts val="1200"/>
              </a:spcBef>
              <a:spcAft>
                <a:spcPts val="0"/>
              </a:spcAft>
              <a:buNone/>
            </a:pPr>
            <a:r>
              <a:rPr b="1" lang="en"/>
              <a:t>Why this is a problem</a:t>
            </a:r>
            <a:endParaRPr b="1"/>
          </a:p>
          <a:p>
            <a:pPr indent="-317500" lvl="0" marL="457200" rtl="0" algn="l">
              <a:spcBef>
                <a:spcPts val="1200"/>
              </a:spcBef>
              <a:spcAft>
                <a:spcPts val="0"/>
              </a:spcAft>
              <a:buSzPts val="1400"/>
              <a:buFont typeface="Open Sans"/>
              <a:buChar char="●"/>
            </a:pPr>
            <a:r>
              <a:rPr lang="en"/>
              <a:t>Logistic regression cannot estimate coefficients when a predictor almost perfectly predicts the outcome.</a:t>
            </a:r>
            <a:endParaRPr/>
          </a:p>
          <a:p>
            <a:pPr indent="-317500" lvl="0" marL="457200" rtl="0" algn="l">
              <a:spcBef>
                <a:spcPts val="0"/>
              </a:spcBef>
              <a:spcAft>
                <a:spcPts val="0"/>
              </a:spcAft>
              <a:buSzPts val="1400"/>
              <a:buFont typeface="Open Sans"/>
              <a:buChar char="●"/>
            </a:pPr>
            <a:r>
              <a:rPr lang="en"/>
              <a:t>Coefficients diverge to ±∞ → huge standard errors → unstable model.</a:t>
            </a:r>
            <a:endParaRPr/>
          </a:p>
          <a:p>
            <a:pPr indent="0" lvl="0" marL="0" rtl="0" algn="l">
              <a:spcBef>
                <a:spcPts val="1200"/>
              </a:spcBef>
              <a:spcAft>
                <a:spcPts val="0"/>
              </a:spcAft>
              <a:buNone/>
            </a:pPr>
            <a:r>
              <a:rPr b="1" lang="en">
                <a:solidFill>
                  <a:srgbClr val="CC0000"/>
                </a:solidFill>
              </a:rPr>
              <a:t>→ </a:t>
            </a:r>
            <a:r>
              <a:rPr b="1" lang="en">
                <a:solidFill>
                  <a:srgbClr val="CC0000"/>
                </a:solidFill>
              </a:rPr>
              <a:t>Remove </a:t>
            </a:r>
            <a:r>
              <a:rPr b="1" i="1" lang="en">
                <a:solidFill>
                  <a:srgbClr val="CC0000"/>
                </a:solidFill>
              </a:rPr>
              <a:t>al</a:t>
            </a:r>
            <a:r>
              <a:rPr b="1" lang="en">
                <a:solidFill>
                  <a:srgbClr val="CC0000"/>
                </a:solidFill>
              </a:rPr>
              <a:t> to ensure stable coefficient estimation and valid inference.</a:t>
            </a:r>
            <a:endParaRPr b="1">
              <a:solidFill>
                <a:srgbClr val="CC0000"/>
              </a:solidFill>
            </a:endParaRPr>
          </a:p>
          <a:p>
            <a:pPr indent="0" lvl="0" marL="0" rtl="0" algn="l">
              <a:spcBef>
                <a:spcPts val="1200"/>
              </a:spcBef>
              <a:spcAft>
                <a:spcPts val="1200"/>
              </a:spcAft>
              <a:buNone/>
            </a:pPr>
            <a:r>
              <a:t/>
            </a:r>
            <a:endParaRPr b="1"/>
          </a:p>
        </p:txBody>
      </p:sp>
      <p:pic>
        <p:nvPicPr>
          <p:cNvPr id="143" name="Google Shape;143;p24"/>
          <p:cNvPicPr preferRelativeResize="0"/>
          <p:nvPr/>
        </p:nvPicPr>
        <p:blipFill>
          <a:blip r:embed="rId3">
            <a:alphaModFix/>
          </a:blip>
          <a:stretch>
            <a:fillRect/>
          </a:stretch>
        </p:blipFill>
        <p:spPr>
          <a:xfrm>
            <a:off x="4521900" y="667550"/>
            <a:ext cx="2397024" cy="2302375"/>
          </a:xfrm>
          <a:prstGeom prst="rect">
            <a:avLst/>
          </a:prstGeom>
          <a:noFill/>
          <a:ln>
            <a:noFill/>
          </a:ln>
        </p:spPr>
      </p:pic>
      <p:pic>
        <p:nvPicPr>
          <p:cNvPr id="144" name="Google Shape;144;p24"/>
          <p:cNvPicPr preferRelativeResize="0"/>
          <p:nvPr/>
        </p:nvPicPr>
        <p:blipFill>
          <a:blip r:embed="rId4">
            <a:alphaModFix/>
          </a:blip>
          <a:stretch>
            <a:fillRect/>
          </a:stretch>
        </p:blipFill>
        <p:spPr>
          <a:xfrm>
            <a:off x="6823200" y="760175"/>
            <a:ext cx="2320725" cy="2117124"/>
          </a:xfrm>
          <a:prstGeom prst="rect">
            <a:avLst/>
          </a:prstGeom>
          <a:noFill/>
          <a:ln>
            <a:noFill/>
          </a:ln>
        </p:spPr>
      </p:pic>
      <p:sp>
        <p:nvSpPr>
          <p:cNvPr id="145" name="Google Shape;145;p24"/>
          <p:cNvSpPr txBox="1"/>
          <p:nvPr/>
        </p:nvSpPr>
        <p:spPr>
          <a:xfrm>
            <a:off x="4882425" y="2697925"/>
            <a:ext cx="4313700" cy="20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rgbClr val="CC0000"/>
              </a:solidFill>
              <a:latin typeface="Open Sans"/>
              <a:ea typeface="Open Sans"/>
              <a:cs typeface="Open Sans"/>
              <a:sym typeface="Open Sans"/>
            </a:endParaRPr>
          </a:p>
          <a:p>
            <a:pPr indent="0" lvl="0" marL="0" rtl="0" algn="l">
              <a:spcBef>
                <a:spcPts val="0"/>
              </a:spcBef>
              <a:spcAft>
                <a:spcPts val="0"/>
              </a:spcAft>
              <a:buNone/>
            </a:pPr>
            <a:r>
              <a:t/>
            </a:r>
            <a:endParaRPr b="1">
              <a:solidFill>
                <a:srgbClr val="CC0000"/>
              </a:solidFill>
              <a:latin typeface="Open Sans"/>
              <a:ea typeface="Open Sans"/>
              <a:cs typeface="Open Sans"/>
              <a:sym typeface="Open Sans"/>
            </a:endParaRPr>
          </a:p>
          <a:p>
            <a:pPr indent="0" lvl="0" marL="0" rtl="0" algn="l">
              <a:spcBef>
                <a:spcPts val="0"/>
              </a:spcBef>
              <a:spcAft>
                <a:spcPts val="0"/>
              </a:spcAft>
              <a:buNone/>
            </a:pPr>
            <a:r>
              <a:rPr b="1" lang="en">
                <a:solidFill>
                  <a:srgbClr val="CC0000"/>
                </a:solidFill>
                <a:latin typeface="Open Sans"/>
                <a:ea typeface="Open Sans"/>
                <a:cs typeface="Open Sans"/>
                <a:sym typeface="Open Sans"/>
              </a:rPr>
              <a:t>→ Both reveal that albumin predicts CKD almost perfectly, resulting in quasi-complete separation and requiring its removal.</a:t>
            </a:r>
            <a:endParaRPr b="1">
              <a:solidFill>
                <a:srgbClr val="CC0000"/>
              </a:solidFill>
              <a:latin typeface="Open Sans"/>
              <a:ea typeface="Open Sans"/>
              <a:cs typeface="Open Sans"/>
              <a:sym typeface="Open Sans"/>
            </a:endParaRPr>
          </a:p>
          <a:p>
            <a:pPr indent="0" lvl="0" marL="0" rtl="0" algn="l">
              <a:spcBef>
                <a:spcPts val="0"/>
              </a:spcBef>
              <a:spcAft>
                <a:spcPts val="0"/>
              </a:spcAft>
              <a:buNone/>
            </a:pPr>
            <a:r>
              <a:t/>
            </a:r>
            <a:endParaRPr b="1">
              <a:solidFill>
                <a:srgbClr val="CC0000"/>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en" sz="1900">
                <a:solidFill>
                  <a:schemeClr val="dk1"/>
                </a:solidFill>
                <a:latin typeface="Economica"/>
                <a:ea typeface="Economica"/>
                <a:cs typeface="Economica"/>
                <a:sym typeface="Economica"/>
              </a:rPr>
              <a:t>H₂: Final Logistic Regression Model (bgr, hemo, sg)</a:t>
            </a:r>
            <a:endParaRPr b="1" sz="300">
              <a:solidFill>
                <a:srgbClr val="CC0000"/>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0" y="0"/>
            <a:ext cx="8520600" cy="539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sz="2800"/>
              <a:t>H₂: Evaluation of the Final Logistic Regression Model</a:t>
            </a:r>
            <a:endParaRPr b="1" sz="3000"/>
          </a:p>
        </p:txBody>
      </p:sp>
      <p:sp>
        <p:nvSpPr>
          <p:cNvPr id="151" name="Google Shape;151;p25"/>
          <p:cNvSpPr txBox="1"/>
          <p:nvPr>
            <p:ph idx="1" type="body"/>
          </p:nvPr>
        </p:nvSpPr>
        <p:spPr>
          <a:xfrm>
            <a:off x="67850" y="539700"/>
            <a:ext cx="5860500" cy="425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1. Model Stability &amp; Variable Significance</a:t>
            </a:r>
            <a:endParaRPr b="1"/>
          </a:p>
          <a:p>
            <a:pPr indent="-317500" lvl="0" marL="457200" rtl="0" algn="l">
              <a:spcBef>
                <a:spcPts val="0"/>
              </a:spcBef>
              <a:spcAft>
                <a:spcPts val="0"/>
              </a:spcAft>
              <a:buSzPts val="1400"/>
              <a:buFont typeface="Open Sans"/>
              <a:buChar char="●"/>
            </a:pPr>
            <a:r>
              <a:rPr lang="en"/>
              <a:t>The final model (bgr, hemo, sg) converged smoothly with no separation issues, and all predictors were highly significant (p &lt; 0.01).</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2. </a:t>
            </a:r>
            <a:r>
              <a:rPr b="1" lang="en"/>
              <a:t>Model Fit (Deviance &amp; AIC)</a:t>
            </a:r>
            <a:endParaRPr b="1"/>
          </a:p>
          <a:p>
            <a:pPr indent="-317500" lvl="0" marL="457200" rtl="0" algn="l">
              <a:spcBef>
                <a:spcPts val="0"/>
              </a:spcBef>
              <a:spcAft>
                <a:spcPts val="0"/>
              </a:spcAft>
              <a:buSzPts val="1400"/>
              <a:buFont typeface="Arial"/>
              <a:buChar char="●"/>
            </a:pPr>
            <a:r>
              <a:rPr b="1" lang="en"/>
              <a:t>Null deviance:</a:t>
            </a:r>
            <a:r>
              <a:rPr lang="en"/>
              <a:t> 529 → </a:t>
            </a:r>
            <a:r>
              <a:rPr b="1" lang="en"/>
              <a:t>Residual deviance:</a:t>
            </a:r>
            <a:r>
              <a:rPr lang="en"/>
              <a:t> 48 (large reduction)</a:t>
            </a:r>
            <a:endParaRPr/>
          </a:p>
          <a:p>
            <a:pPr indent="-317500" lvl="0" marL="457200" rtl="0" algn="l">
              <a:spcBef>
                <a:spcPts val="0"/>
              </a:spcBef>
              <a:spcAft>
                <a:spcPts val="0"/>
              </a:spcAft>
              <a:buSzPts val="1400"/>
              <a:buFont typeface="Arial"/>
              <a:buChar char="●"/>
            </a:pPr>
            <a:r>
              <a:rPr b="1" lang="en"/>
              <a:t>AIC = 56.056 </a:t>
            </a:r>
            <a:r>
              <a:rPr lang="en"/>
              <a:t>→ A simple yet highly explanatory model.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3</a:t>
            </a:r>
            <a:r>
              <a:rPr b="1" lang="en"/>
              <a:t>. Odds Ratios (Effect Size)</a:t>
            </a:r>
            <a:endParaRPr b="1"/>
          </a:p>
          <a:p>
            <a:pPr indent="-317500" lvl="0" marL="457200" rtl="0" algn="l">
              <a:spcBef>
                <a:spcPts val="0"/>
              </a:spcBef>
              <a:spcAft>
                <a:spcPts val="0"/>
              </a:spcAft>
              <a:buSzPts val="1400"/>
              <a:buFont typeface="Arial"/>
              <a:buChar char="●"/>
            </a:pPr>
            <a:r>
              <a:rPr b="1" lang="en"/>
              <a:t>bgr (OR ≈ 1.04):</a:t>
            </a:r>
            <a:r>
              <a:rPr lang="en"/>
              <a:t> Higher blood glucose slightly but consistently increases the odds of CKD.</a:t>
            </a:r>
            <a:endParaRPr/>
          </a:p>
          <a:p>
            <a:pPr indent="-317500" lvl="0" marL="457200" rtl="0" algn="l">
              <a:spcBef>
                <a:spcPts val="0"/>
              </a:spcBef>
              <a:spcAft>
                <a:spcPts val="0"/>
              </a:spcAft>
              <a:buSzPts val="1400"/>
              <a:buFont typeface="Arial"/>
              <a:buChar char="●"/>
            </a:pPr>
            <a:r>
              <a:rPr b="1" lang="en"/>
              <a:t>hemo (OR ≈ 0.10):</a:t>
            </a:r>
            <a:r>
              <a:rPr lang="en"/>
              <a:t> Higher hemoglobin strongly lowers CKD risk, aligning with anemia patterns seen in CKD.</a:t>
            </a:r>
            <a:endParaRPr/>
          </a:p>
          <a:p>
            <a:pPr indent="-317500" lvl="0" marL="457200" rtl="0" algn="l">
              <a:spcBef>
                <a:spcPts val="0"/>
              </a:spcBef>
              <a:spcAft>
                <a:spcPts val="0"/>
              </a:spcAft>
              <a:buSzPts val="1400"/>
              <a:buFont typeface="Arial"/>
              <a:buChar char="●"/>
            </a:pPr>
            <a:r>
              <a:rPr b="1" lang="en"/>
              <a:t>sg (OR ≈ ~0):</a:t>
            </a:r>
            <a:r>
              <a:rPr lang="en"/>
              <a:t> Small increases in specific gravity sharply reduce CKD risk, reflecting impaired concentration ability in diseased kidneys.</a:t>
            </a:r>
            <a:endParaRPr b="1">
              <a:solidFill>
                <a:srgbClr val="CC0000"/>
              </a:solidFill>
            </a:endParaRPr>
          </a:p>
          <a:p>
            <a:pPr indent="0" lvl="0" marL="0" rtl="0" algn="l">
              <a:spcBef>
                <a:spcPts val="0"/>
              </a:spcBef>
              <a:spcAft>
                <a:spcPts val="0"/>
              </a:spcAft>
              <a:buNone/>
            </a:pPr>
            <a:r>
              <a:t/>
            </a:r>
            <a:endParaRPr sz="1300"/>
          </a:p>
        </p:txBody>
      </p:sp>
      <p:pic>
        <p:nvPicPr>
          <p:cNvPr id="152" name="Google Shape;152;p25"/>
          <p:cNvPicPr preferRelativeResize="0"/>
          <p:nvPr/>
        </p:nvPicPr>
        <p:blipFill>
          <a:blip r:embed="rId3">
            <a:alphaModFix/>
          </a:blip>
          <a:stretch>
            <a:fillRect/>
          </a:stretch>
        </p:blipFill>
        <p:spPr>
          <a:xfrm>
            <a:off x="6008762" y="3374425"/>
            <a:ext cx="3054850" cy="1569000"/>
          </a:xfrm>
          <a:prstGeom prst="rect">
            <a:avLst/>
          </a:prstGeom>
          <a:noFill/>
          <a:ln>
            <a:noFill/>
          </a:ln>
        </p:spPr>
      </p:pic>
      <p:pic>
        <p:nvPicPr>
          <p:cNvPr id="153" name="Google Shape;153;p25"/>
          <p:cNvPicPr preferRelativeResize="0"/>
          <p:nvPr/>
        </p:nvPicPr>
        <p:blipFill>
          <a:blip r:embed="rId4">
            <a:alphaModFix/>
          </a:blip>
          <a:stretch>
            <a:fillRect/>
          </a:stretch>
        </p:blipFill>
        <p:spPr>
          <a:xfrm>
            <a:off x="5928350" y="0"/>
            <a:ext cx="3215676" cy="3374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0" y="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800"/>
              <a:t>H₂: Evaluation of the Final Logistic Regression Model</a:t>
            </a:r>
            <a:endParaRPr b="1" sz="3000"/>
          </a:p>
        </p:txBody>
      </p:sp>
      <p:sp>
        <p:nvSpPr>
          <p:cNvPr id="159" name="Google Shape;159;p26"/>
          <p:cNvSpPr txBox="1"/>
          <p:nvPr>
            <p:ph idx="2" type="body"/>
          </p:nvPr>
        </p:nvSpPr>
        <p:spPr>
          <a:xfrm>
            <a:off x="0" y="909325"/>
            <a:ext cx="3999900" cy="1508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a:t>4.</a:t>
            </a:r>
            <a:r>
              <a:rPr b="1" lang="en"/>
              <a:t>ROC &amp; AUC</a:t>
            </a:r>
            <a:endParaRPr b="1"/>
          </a:p>
          <a:p>
            <a:pPr indent="-317500" lvl="0" marL="457200" rtl="0" algn="l">
              <a:spcBef>
                <a:spcPts val="1200"/>
              </a:spcBef>
              <a:spcAft>
                <a:spcPts val="0"/>
              </a:spcAft>
              <a:buSzPts val="1400"/>
              <a:buFont typeface="Arial"/>
              <a:buChar char="●"/>
            </a:pPr>
            <a:r>
              <a:rPr b="1" lang="en"/>
              <a:t>AUC ≈ 0.995–1.000</a:t>
            </a:r>
            <a:br>
              <a:rPr b="1" lang="en"/>
            </a:br>
            <a:r>
              <a:rPr lang="en"/>
              <a:t> → Near-perfect discrimination ability.</a:t>
            </a:r>
            <a:br>
              <a:rPr lang="en"/>
            </a:br>
            <a:r>
              <a:rPr lang="en"/>
              <a:t> → Strong capability to distinguish CKD from non-CKD.</a:t>
            </a:r>
            <a:endParaRPr/>
          </a:p>
        </p:txBody>
      </p:sp>
      <p:pic>
        <p:nvPicPr>
          <p:cNvPr id="160" name="Google Shape;160;p26"/>
          <p:cNvPicPr preferRelativeResize="0"/>
          <p:nvPr/>
        </p:nvPicPr>
        <p:blipFill>
          <a:blip r:embed="rId3">
            <a:alphaModFix/>
          </a:blip>
          <a:stretch>
            <a:fillRect/>
          </a:stretch>
        </p:blipFill>
        <p:spPr>
          <a:xfrm>
            <a:off x="101750" y="2417725"/>
            <a:ext cx="3796400" cy="2711714"/>
          </a:xfrm>
          <a:prstGeom prst="rect">
            <a:avLst/>
          </a:prstGeom>
          <a:noFill/>
          <a:ln>
            <a:noFill/>
          </a:ln>
        </p:spPr>
      </p:pic>
      <p:pic>
        <p:nvPicPr>
          <p:cNvPr id="161" name="Google Shape;161;p26"/>
          <p:cNvPicPr preferRelativeResize="0"/>
          <p:nvPr/>
        </p:nvPicPr>
        <p:blipFill>
          <a:blip r:embed="rId4">
            <a:alphaModFix/>
          </a:blip>
          <a:stretch>
            <a:fillRect/>
          </a:stretch>
        </p:blipFill>
        <p:spPr>
          <a:xfrm>
            <a:off x="4329050" y="871025"/>
            <a:ext cx="4191549" cy="2961649"/>
          </a:xfrm>
          <a:prstGeom prst="rect">
            <a:avLst/>
          </a:prstGeom>
          <a:noFill/>
          <a:ln>
            <a:noFill/>
          </a:ln>
        </p:spPr>
      </p:pic>
      <p:sp>
        <p:nvSpPr>
          <p:cNvPr id="162" name="Google Shape;162;p26"/>
          <p:cNvSpPr txBox="1"/>
          <p:nvPr/>
        </p:nvSpPr>
        <p:spPr>
          <a:xfrm>
            <a:off x="4150150" y="3946100"/>
            <a:ext cx="4807800" cy="9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Because accuracy, sensitivity, and specificity all remain around 0.96, and both PPV (0.98) and NPV (0.93) are high</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rgbClr val="CC0000"/>
                </a:solidFill>
                <a:latin typeface="Open Sans"/>
                <a:ea typeface="Open Sans"/>
                <a:cs typeface="Open Sans"/>
                <a:sym typeface="Open Sans"/>
              </a:rPr>
              <a:t>→</a:t>
            </a:r>
            <a:r>
              <a:rPr lang="en">
                <a:solidFill>
                  <a:schemeClr val="dk1"/>
                </a:solidFill>
                <a:latin typeface="Open Sans"/>
                <a:ea typeface="Open Sans"/>
                <a:cs typeface="Open Sans"/>
                <a:sym typeface="Open Sans"/>
              </a:rPr>
              <a:t> </a:t>
            </a:r>
            <a:r>
              <a:rPr b="1" lang="en">
                <a:solidFill>
                  <a:srgbClr val="CC0000"/>
                </a:solidFill>
                <a:latin typeface="Open Sans"/>
                <a:ea typeface="Open Sans"/>
                <a:cs typeface="Open Sans"/>
                <a:sym typeface="Open Sans"/>
              </a:rPr>
              <a:t>indicating the model performs strongly and consistently across both CKD and non-CKD classes.</a:t>
            </a:r>
            <a:endParaRPr b="1">
              <a:solidFill>
                <a:srgbClr val="CC0000"/>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270150" y="114025"/>
            <a:ext cx="8520600" cy="34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400"/>
              <a:t>H₁ and H₂</a:t>
            </a:r>
            <a:r>
              <a:rPr b="1" lang="en" sz="2400"/>
              <a:t>: Re-analysis Under MCAR &amp; MNAR</a:t>
            </a:r>
            <a:endParaRPr b="1" sz="2400"/>
          </a:p>
        </p:txBody>
      </p:sp>
      <p:sp>
        <p:nvSpPr>
          <p:cNvPr id="168" name="Google Shape;168;p27"/>
          <p:cNvSpPr txBox="1"/>
          <p:nvPr>
            <p:ph idx="1" type="body"/>
          </p:nvPr>
        </p:nvSpPr>
        <p:spPr>
          <a:xfrm>
            <a:off x="270150" y="360275"/>
            <a:ext cx="8603700" cy="1454700"/>
          </a:xfrm>
          <a:prstGeom prst="rect">
            <a:avLst/>
          </a:prstGeom>
        </p:spPr>
        <p:txBody>
          <a:bodyPr anchorCtr="0" anchor="t" bIns="91425" lIns="91425" spcFirstLastPara="1" rIns="91425" wrap="square" tIns="91425">
            <a:normAutofit fontScale="47500" lnSpcReduction="10000"/>
          </a:bodyPr>
          <a:lstStyle/>
          <a:p>
            <a:pPr indent="0" lvl="0" marL="0" marR="0" rtl="0" algn="l">
              <a:lnSpc>
                <a:spcPct val="150000"/>
              </a:lnSpc>
              <a:spcBef>
                <a:spcPts val="0"/>
              </a:spcBef>
              <a:spcAft>
                <a:spcPts val="0"/>
              </a:spcAft>
              <a:buNone/>
            </a:pPr>
            <a:r>
              <a:rPr b="1" lang="en" sz="2100"/>
              <a:t>H₁</a:t>
            </a:r>
            <a:r>
              <a:rPr b="1" lang="en" sz="2100"/>
              <a:t> </a:t>
            </a:r>
            <a:r>
              <a:rPr b="1" lang="en" sz="2100"/>
              <a:t>M</a:t>
            </a:r>
            <a:r>
              <a:rPr b="1" lang="en" sz="2100"/>
              <a:t>issing simulation Method:</a:t>
            </a:r>
            <a:endParaRPr b="1" sz="2100"/>
          </a:p>
          <a:p>
            <a:pPr indent="0" lvl="0" marL="0" marR="0" rtl="0" algn="l">
              <a:lnSpc>
                <a:spcPct val="150000"/>
              </a:lnSpc>
              <a:spcBef>
                <a:spcPts val="0"/>
              </a:spcBef>
              <a:spcAft>
                <a:spcPts val="0"/>
              </a:spcAft>
              <a:buNone/>
            </a:pPr>
            <a:r>
              <a:rPr lang="en" sz="1750"/>
              <a:t>We generated datasets under MCAR conditions at multiple missingness levels (10%, 20%, 30%, 40%, 50%) and </a:t>
            </a:r>
            <a:r>
              <a:rPr lang="en" sz="1750"/>
              <a:t>MNAR in 40%</a:t>
            </a:r>
            <a:r>
              <a:rPr lang="en" sz="1750"/>
              <a:t>.</a:t>
            </a:r>
            <a:endParaRPr sz="1750"/>
          </a:p>
          <a:p>
            <a:pPr indent="-281384" lvl="0" marL="457200" rtl="0" algn="l">
              <a:lnSpc>
                <a:spcPct val="150000"/>
              </a:lnSpc>
              <a:spcBef>
                <a:spcPts val="0"/>
              </a:spcBef>
              <a:spcAft>
                <a:spcPts val="0"/>
              </a:spcAft>
              <a:buSzPct val="100000"/>
              <a:buFont typeface="Times New Roman"/>
              <a:buChar char="●"/>
            </a:pPr>
            <a:r>
              <a:rPr b="1" lang="en" sz="1750"/>
              <a:t>MCAR:</a:t>
            </a:r>
            <a:r>
              <a:rPr lang="en" sz="1750"/>
              <a:t> we randomly remove 10%, 20%, 30%, 40%, and 50% of the observations from the original dataset for both the blood pressure (bp) and appetite (appet) variables.</a:t>
            </a:r>
            <a:endParaRPr sz="1750"/>
          </a:p>
          <a:p>
            <a:pPr indent="-281384" lvl="0" marL="457200" rtl="0" algn="l">
              <a:lnSpc>
                <a:spcPct val="150000"/>
              </a:lnSpc>
              <a:spcBef>
                <a:spcPts val="0"/>
              </a:spcBef>
              <a:spcAft>
                <a:spcPts val="0"/>
              </a:spcAft>
              <a:buSzPct val="100000"/>
              <a:buFont typeface="Times New Roman"/>
              <a:buChar char="●"/>
            </a:pPr>
            <a:r>
              <a:rPr b="1" lang="en" sz="1750"/>
              <a:t>MNAR (removed 40%):  </a:t>
            </a:r>
            <a:r>
              <a:rPr lang="en" sz="1750"/>
              <a:t>1. Bp (blood pressure) values above 80 are assumed to be more likely missing. Because in emergency situations physicians may not have enough time to record BP measurements.  2. We assume that observations with good appetite are more likely to be missing, as patients without appetite problems may consider this question unimportant and choose not to answer it.</a:t>
            </a:r>
            <a:endParaRPr sz="1750"/>
          </a:p>
        </p:txBody>
      </p:sp>
      <p:sp>
        <p:nvSpPr>
          <p:cNvPr id="169" name="Google Shape;169;p27"/>
          <p:cNvSpPr txBox="1"/>
          <p:nvPr>
            <p:ph idx="2" type="body"/>
          </p:nvPr>
        </p:nvSpPr>
        <p:spPr>
          <a:xfrm>
            <a:off x="318175" y="1735075"/>
            <a:ext cx="8765700" cy="1093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000"/>
              <a:t>H₁</a:t>
            </a:r>
            <a:r>
              <a:rPr b="1" lang="en" sz="1000"/>
              <a:t> Re-analysis Process:</a:t>
            </a:r>
            <a:endParaRPr b="1" sz="1000"/>
          </a:p>
          <a:p>
            <a:pPr indent="-279400" lvl="0" marL="457200" rtl="0" algn="l">
              <a:lnSpc>
                <a:spcPct val="150000"/>
              </a:lnSpc>
              <a:spcBef>
                <a:spcPts val="1200"/>
              </a:spcBef>
              <a:spcAft>
                <a:spcPts val="0"/>
              </a:spcAft>
              <a:buSzPts val="800"/>
              <a:buChar char="●"/>
            </a:pPr>
            <a:r>
              <a:rPr lang="en" sz="800"/>
              <a:t>Based on the </a:t>
            </a:r>
            <a:r>
              <a:rPr lang="en" sz="800"/>
              <a:t>missing</a:t>
            </a:r>
            <a:r>
              <a:rPr lang="en" sz="800"/>
              <a:t> simulation method, we randomly remove data at </a:t>
            </a:r>
            <a:r>
              <a:rPr lang="en" sz="800"/>
              <a:t>multiple missingness levels (10%, 20%, 30%, 40%, 50%) and MNAR in 40%.</a:t>
            </a:r>
            <a:endParaRPr sz="800"/>
          </a:p>
          <a:p>
            <a:pPr indent="-279400" lvl="0" marL="457200" rtl="0" algn="l">
              <a:lnSpc>
                <a:spcPct val="150000"/>
              </a:lnSpc>
              <a:spcBef>
                <a:spcPts val="0"/>
              </a:spcBef>
              <a:spcAft>
                <a:spcPts val="0"/>
              </a:spcAft>
              <a:buSzPts val="800"/>
              <a:buChar char="●"/>
            </a:pPr>
            <a:r>
              <a:rPr lang="en" sz="800">
                <a:latin typeface="Arial"/>
                <a:ea typeface="Arial"/>
                <a:cs typeface="Arial"/>
                <a:sym typeface="Arial"/>
              </a:rPr>
              <a:t>All simulated datasets are fully imputed using </a:t>
            </a:r>
            <a:r>
              <a:rPr b="1" lang="en" sz="800">
                <a:latin typeface="Arial"/>
                <a:ea typeface="Arial"/>
                <a:cs typeface="Arial"/>
                <a:sym typeface="Arial"/>
              </a:rPr>
              <a:t>KNN (k = 5)</a:t>
            </a:r>
            <a:r>
              <a:rPr lang="en" sz="800">
                <a:latin typeface="Arial"/>
                <a:ea typeface="Arial"/>
                <a:cs typeface="Arial"/>
                <a:sym typeface="Arial"/>
              </a:rPr>
              <a:t>.</a:t>
            </a:r>
            <a:endParaRPr sz="800"/>
          </a:p>
          <a:p>
            <a:pPr indent="-279400" lvl="0" marL="457200" rtl="0" algn="l">
              <a:lnSpc>
                <a:spcPct val="150000"/>
              </a:lnSpc>
              <a:spcBef>
                <a:spcPts val="0"/>
              </a:spcBef>
              <a:spcAft>
                <a:spcPts val="0"/>
              </a:spcAft>
              <a:buSzPts val="800"/>
              <a:buChar char="●"/>
            </a:pPr>
            <a:r>
              <a:rPr lang="en" sz="800"/>
              <a:t>Re-analysis H₁: </a:t>
            </a:r>
            <a:r>
              <a:rPr b="1" lang="en" sz="800"/>
              <a:t>Welch’s t-test </a:t>
            </a:r>
            <a:r>
              <a:rPr lang="en" sz="800"/>
              <a:t>→ mean comparison </a:t>
            </a:r>
            <a:endParaRPr sz="800"/>
          </a:p>
          <a:p>
            <a:pPr indent="-279400" lvl="0" marL="457200" rtl="0" algn="l">
              <a:lnSpc>
                <a:spcPct val="150000"/>
              </a:lnSpc>
              <a:spcBef>
                <a:spcPts val="0"/>
              </a:spcBef>
              <a:spcAft>
                <a:spcPts val="0"/>
              </a:spcAft>
              <a:buSzPts val="800"/>
              <a:buChar char="●"/>
            </a:pPr>
            <a:r>
              <a:rPr lang="en" sz="800"/>
              <a:t>Compare the results of data sets under different missing simulation and the original data set. </a:t>
            </a:r>
            <a:endParaRPr sz="800"/>
          </a:p>
        </p:txBody>
      </p:sp>
      <p:sp>
        <p:nvSpPr>
          <p:cNvPr id="170" name="Google Shape;170;p27"/>
          <p:cNvSpPr txBox="1"/>
          <p:nvPr>
            <p:ph idx="1" type="body"/>
          </p:nvPr>
        </p:nvSpPr>
        <p:spPr>
          <a:xfrm>
            <a:off x="266375" y="2828875"/>
            <a:ext cx="8462400" cy="9948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1"/>
              </a:buClr>
              <a:buSzPts val="1100"/>
              <a:buFont typeface="Arial"/>
              <a:buNone/>
            </a:pPr>
            <a:r>
              <a:rPr b="1" lang="en" sz="1000"/>
              <a:t>H₂</a:t>
            </a:r>
            <a:r>
              <a:rPr b="1" lang="en" sz="1000"/>
              <a:t> M</a:t>
            </a:r>
            <a:r>
              <a:rPr b="1" lang="en" sz="1000"/>
              <a:t>issing simulation Method:</a:t>
            </a:r>
            <a:endParaRPr b="1" sz="1000"/>
          </a:p>
          <a:p>
            <a:pPr indent="0" lvl="0" marL="0" rtl="0" algn="l">
              <a:lnSpc>
                <a:spcPct val="150000"/>
              </a:lnSpc>
              <a:spcBef>
                <a:spcPts val="0"/>
              </a:spcBef>
              <a:spcAft>
                <a:spcPts val="0"/>
              </a:spcAft>
              <a:buClr>
                <a:schemeClr val="dk1"/>
              </a:buClr>
              <a:buSzPts val="1100"/>
              <a:buFont typeface="Arial"/>
              <a:buNone/>
            </a:pPr>
            <a:r>
              <a:rPr lang="en" sz="800"/>
              <a:t>We generated datasets under MCAR conditions at multiple missingness levels (10%, 20%, 30%, 40%, 50%) and MNAR in 40%. </a:t>
            </a:r>
            <a:endParaRPr sz="800"/>
          </a:p>
          <a:p>
            <a:pPr indent="-279400" lvl="0" marL="457200" rtl="0" algn="l">
              <a:lnSpc>
                <a:spcPct val="150000"/>
              </a:lnSpc>
              <a:spcBef>
                <a:spcPts val="0"/>
              </a:spcBef>
              <a:spcAft>
                <a:spcPts val="0"/>
              </a:spcAft>
              <a:buSzPts val="800"/>
              <a:buFont typeface="Times New Roman"/>
              <a:buChar char="●"/>
            </a:pPr>
            <a:r>
              <a:rPr b="1" lang="en" sz="800"/>
              <a:t>MCAR:</a:t>
            </a:r>
            <a:r>
              <a:rPr lang="en" sz="800"/>
              <a:t> we randomly removed 10%, 20%, 30%, 40%, and 50% of the observations from the variables bgr, hemo, and sg.</a:t>
            </a:r>
            <a:endParaRPr sz="800"/>
          </a:p>
          <a:p>
            <a:pPr indent="-279400" lvl="0" marL="457200" rtl="0" algn="l">
              <a:lnSpc>
                <a:spcPct val="150000"/>
              </a:lnSpc>
              <a:spcBef>
                <a:spcPts val="0"/>
              </a:spcBef>
              <a:spcAft>
                <a:spcPts val="0"/>
              </a:spcAft>
              <a:buSzPts val="800"/>
              <a:buFont typeface="Times New Roman"/>
              <a:buChar char="●"/>
            </a:pPr>
            <a:r>
              <a:rPr b="1" lang="en" sz="800"/>
              <a:t>MNAR (removed 40%):</a:t>
            </a:r>
            <a:r>
              <a:rPr lang="en" sz="800"/>
              <a:t>  values above the mean were assigned a higher probability of being missing to reflect non-random missingness patterns.</a:t>
            </a:r>
            <a:endParaRPr sz="800">
              <a:latin typeface="Times New Roman"/>
              <a:ea typeface="Times New Roman"/>
              <a:cs typeface="Times New Roman"/>
              <a:sym typeface="Times New Roman"/>
            </a:endParaRPr>
          </a:p>
        </p:txBody>
      </p:sp>
      <p:sp>
        <p:nvSpPr>
          <p:cNvPr id="171" name="Google Shape;171;p27"/>
          <p:cNvSpPr txBox="1"/>
          <p:nvPr>
            <p:ph idx="2" type="body"/>
          </p:nvPr>
        </p:nvSpPr>
        <p:spPr>
          <a:xfrm>
            <a:off x="266375" y="3765475"/>
            <a:ext cx="8462400" cy="1215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110000"/>
              <a:buFont typeface="Arial"/>
              <a:buNone/>
            </a:pPr>
            <a:r>
              <a:rPr b="1" lang="en" sz="1000"/>
              <a:t>H₂</a:t>
            </a:r>
            <a:r>
              <a:rPr b="1" lang="en" sz="1000"/>
              <a:t> Re-analysis Process:</a:t>
            </a:r>
            <a:endParaRPr sz="800"/>
          </a:p>
          <a:p>
            <a:pPr indent="-275590" lvl="0" marL="457200" rtl="0" algn="l">
              <a:lnSpc>
                <a:spcPct val="150000"/>
              </a:lnSpc>
              <a:spcBef>
                <a:spcPts val="1200"/>
              </a:spcBef>
              <a:spcAft>
                <a:spcPts val="0"/>
              </a:spcAft>
              <a:buSzPct val="100000"/>
              <a:buChar char="●"/>
            </a:pPr>
            <a:r>
              <a:rPr lang="en" sz="800"/>
              <a:t>Based on the missing simulation method, we randomly remove data at multiple missingness levels (10%, 20%, 30%, 40%, 50%) and MNAR in 40%.</a:t>
            </a:r>
            <a:endParaRPr sz="800"/>
          </a:p>
          <a:p>
            <a:pPr indent="-275590" lvl="0" marL="457200" rtl="0" algn="l">
              <a:lnSpc>
                <a:spcPct val="150000"/>
              </a:lnSpc>
              <a:spcBef>
                <a:spcPts val="0"/>
              </a:spcBef>
              <a:spcAft>
                <a:spcPts val="0"/>
              </a:spcAft>
              <a:buSzPct val="100000"/>
              <a:buChar char="●"/>
            </a:pPr>
            <a:r>
              <a:rPr lang="en" sz="800"/>
              <a:t>Use KNN imputation to filled in all the missing values</a:t>
            </a:r>
            <a:endParaRPr sz="800"/>
          </a:p>
          <a:p>
            <a:pPr indent="-275590" lvl="0" marL="457200" rtl="0" algn="l">
              <a:lnSpc>
                <a:spcPct val="150000"/>
              </a:lnSpc>
              <a:spcBef>
                <a:spcPts val="0"/>
              </a:spcBef>
              <a:spcAft>
                <a:spcPts val="0"/>
              </a:spcAft>
              <a:buSzPct val="100000"/>
              <a:buChar char="●"/>
            </a:pPr>
            <a:r>
              <a:rPr lang="en" sz="800"/>
              <a:t>Re-analysis H₂: Re-fit the final logistic model (bgr, hemo, sg) for H₂</a:t>
            </a:r>
            <a:endParaRPr sz="800"/>
          </a:p>
          <a:p>
            <a:pPr indent="-275590" lvl="0" marL="457200" rtl="0" algn="l">
              <a:lnSpc>
                <a:spcPct val="150000"/>
              </a:lnSpc>
              <a:spcBef>
                <a:spcPts val="0"/>
              </a:spcBef>
              <a:spcAft>
                <a:spcPts val="0"/>
              </a:spcAft>
              <a:buSzPct val="100000"/>
              <a:buChar char="●"/>
            </a:pPr>
            <a:r>
              <a:rPr lang="en" sz="800"/>
              <a:t>Examine model stability, coefficient behavior, and performance metrics</a:t>
            </a:r>
            <a:endParaRPr sz="800"/>
          </a:p>
          <a:p>
            <a:pPr indent="-275590" lvl="0" marL="457200" rtl="0" algn="l">
              <a:lnSpc>
                <a:spcPct val="150000"/>
              </a:lnSpc>
              <a:spcBef>
                <a:spcPts val="0"/>
              </a:spcBef>
              <a:spcAft>
                <a:spcPts val="0"/>
              </a:spcAft>
              <a:buSzPct val="100000"/>
              <a:buChar char="●"/>
            </a:pPr>
            <a:r>
              <a:rPr lang="en" sz="800"/>
              <a:t>Compare the results of data sets under different missing simulation and the original data set</a:t>
            </a:r>
            <a:endParaRPr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2800"/>
              <a:t>H₁</a:t>
            </a:r>
            <a:r>
              <a:rPr b="1" lang="en" sz="3000"/>
              <a:t>: </a:t>
            </a:r>
            <a:r>
              <a:rPr b="1" lang="en" sz="3000"/>
              <a:t>Result of </a:t>
            </a:r>
            <a:r>
              <a:rPr b="1" lang="en" sz="3000"/>
              <a:t>Re-analysis Under MCAR &amp; MNAR </a:t>
            </a:r>
            <a:endParaRPr b="1" sz="3000"/>
          </a:p>
        </p:txBody>
      </p:sp>
      <p:sp>
        <p:nvSpPr>
          <p:cNvPr id="177" name="Google Shape;177;p28"/>
          <p:cNvSpPr txBox="1"/>
          <p:nvPr>
            <p:ph idx="2" type="body"/>
          </p:nvPr>
        </p:nvSpPr>
        <p:spPr>
          <a:xfrm>
            <a:off x="4383650" y="1225225"/>
            <a:ext cx="4597800" cy="3606000"/>
          </a:xfrm>
          <a:prstGeom prst="rect">
            <a:avLst/>
          </a:prstGeom>
        </p:spPr>
        <p:txBody>
          <a:bodyPr anchorCtr="0" anchor="t" bIns="91425" lIns="91425" spcFirstLastPara="1" rIns="91425" wrap="square" tIns="91425">
            <a:normAutofit fontScale="25000" lnSpcReduction="20000"/>
          </a:bodyPr>
          <a:lstStyle/>
          <a:p>
            <a:pPr indent="-300831" lvl="0" marL="457200" marR="0" rtl="0" algn="l">
              <a:lnSpc>
                <a:spcPct val="150000"/>
              </a:lnSpc>
              <a:spcBef>
                <a:spcPts val="0"/>
              </a:spcBef>
              <a:spcAft>
                <a:spcPts val="0"/>
              </a:spcAft>
              <a:buSzPct val="100000"/>
              <a:buFont typeface="Times New Roman"/>
              <a:buChar char="●"/>
            </a:pPr>
            <a:r>
              <a:rPr b="1" lang="en" sz="4550">
                <a:latin typeface="Times New Roman"/>
                <a:ea typeface="Times New Roman"/>
                <a:cs typeface="Times New Roman"/>
                <a:sym typeface="Times New Roman"/>
              </a:rPr>
              <a:t>Original data and MCAR 10–20%</a:t>
            </a:r>
            <a:endParaRPr b="1" sz="4550">
              <a:latin typeface="Times New Roman"/>
              <a:ea typeface="Times New Roman"/>
              <a:cs typeface="Times New Roman"/>
              <a:sym typeface="Times New Roman"/>
            </a:endParaRPr>
          </a:p>
          <a:p>
            <a:pPr indent="0" lvl="0" marL="457200" marR="0" rtl="0" algn="l">
              <a:lnSpc>
                <a:spcPct val="150000"/>
              </a:lnSpc>
              <a:spcBef>
                <a:spcPts val="0"/>
              </a:spcBef>
              <a:spcAft>
                <a:spcPts val="0"/>
              </a:spcAft>
              <a:buNone/>
            </a:pPr>
            <a:r>
              <a:rPr lang="en" sz="4550">
                <a:latin typeface="Times New Roman"/>
                <a:ea typeface="Times New Roman"/>
                <a:cs typeface="Times New Roman"/>
                <a:sym typeface="Times New Roman"/>
              </a:rPr>
              <a:t>Reject H₀, Welch t-test shows </a:t>
            </a:r>
            <a:r>
              <a:rPr lang="en" sz="4550">
                <a:latin typeface="Times New Roman"/>
                <a:ea typeface="Times New Roman"/>
                <a:cs typeface="Times New Roman"/>
                <a:sym typeface="Times New Roman"/>
              </a:rPr>
              <a:t>mean blood pressure differs significantly between good and poor appetite groups.</a:t>
            </a:r>
            <a:endParaRPr sz="4550">
              <a:latin typeface="Times New Roman"/>
              <a:ea typeface="Times New Roman"/>
              <a:cs typeface="Times New Roman"/>
              <a:sym typeface="Times New Roman"/>
            </a:endParaRPr>
          </a:p>
          <a:p>
            <a:pPr indent="-300831" lvl="0" marL="457200" marR="0" rtl="0" algn="l">
              <a:lnSpc>
                <a:spcPct val="150000"/>
              </a:lnSpc>
              <a:spcBef>
                <a:spcPts val="0"/>
              </a:spcBef>
              <a:spcAft>
                <a:spcPts val="0"/>
              </a:spcAft>
              <a:buSzPct val="100000"/>
              <a:buFont typeface="Times New Roman"/>
              <a:buChar char="●"/>
            </a:pPr>
            <a:r>
              <a:rPr b="1" lang="en" sz="4550">
                <a:latin typeface="Times New Roman"/>
                <a:ea typeface="Times New Roman"/>
                <a:cs typeface="Times New Roman"/>
                <a:sym typeface="Times New Roman"/>
              </a:rPr>
              <a:t>MCAR 30–50%</a:t>
            </a:r>
            <a:endParaRPr b="1" sz="4550">
              <a:latin typeface="Times New Roman"/>
              <a:ea typeface="Times New Roman"/>
              <a:cs typeface="Times New Roman"/>
              <a:sym typeface="Times New Roman"/>
            </a:endParaRPr>
          </a:p>
          <a:p>
            <a:pPr indent="0" lvl="0" marL="457200" marR="0" rtl="0" algn="l">
              <a:lnSpc>
                <a:spcPct val="150000"/>
              </a:lnSpc>
              <a:spcBef>
                <a:spcPts val="0"/>
              </a:spcBef>
              <a:spcAft>
                <a:spcPts val="0"/>
              </a:spcAft>
              <a:buNone/>
            </a:pPr>
            <a:r>
              <a:rPr b="1" lang="en" sz="4550">
                <a:latin typeface="Times New Roman"/>
                <a:ea typeface="Times New Roman"/>
                <a:cs typeface="Times New Roman"/>
                <a:sym typeface="Times New Roman"/>
              </a:rPr>
              <a:t>Fail to reject H₀</a:t>
            </a:r>
            <a:r>
              <a:rPr lang="en" sz="4550">
                <a:latin typeface="Times New Roman"/>
                <a:ea typeface="Times New Roman"/>
                <a:cs typeface="Times New Roman"/>
                <a:sym typeface="Times New Roman"/>
              </a:rPr>
              <a:t>, </a:t>
            </a:r>
            <a:r>
              <a:rPr lang="en" sz="4550">
                <a:latin typeface="Times New Roman"/>
                <a:ea typeface="Times New Roman"/>
                <a:cs typeface="Times New Roman"/>
                <a:sym typeface="Times New Roman"/>
              </a:rPr>
              <a:t>Welch’s t-test shows mean blood pressure differs is not significantly between good and poor appetite groups.</a:t>
            </a:r>
            <a:endParaRPr sz="4550">
              <a:latin typeface="Times New Roman"/>
              <a:ea typeface="Times New Roman"/>
              <a:cs typeface="Times New Roman"/>
              <a:sym typeface="Times New Roman"/>
            </a:endParaRPr>
          </a:p>
          <a:p>
            <a:pPr indent="-300831" lvl="0" marL="457200" marR="0" rtl="0" algn="l">
              <a:lnSpc>
                <a:spcPct val="150000"/>
              </a:lnSpc>
              <a:spcBef>
                <a:spcPts val="0"/>
              </a:spcBef>
              <a:spcAft>
                <a:spcPts val="0"/>
              </a:spcAft>
              <a:buSzPct val="100000"/>
              <a:buFont typeface="Times New Roman"/>
              <a:buChar char="●"/>
            </a:pPr>
            <a:r>
              <a:rPr b="1" lang="en" sz="4550">
                <a:latin typeface="Times New Roman"/>
                <a:ea typeface="Times New Roman"/>
                <a:cs typeface="Times New Roman"/>
                <a:sym typeface="Times New Roman"/>
              </a:rPr>
              <a:t>MNAR 40% scenario</a:t>
            </a:r>
            <a:endParaRPr b="1" sz="4550">
              <a:latin typeface="Times New Roman"/>
              <a:ea typeface="Times New Roman"/>
              <a:cs typeface="Times New Roman"/>
              <a:sym typeface="Times New Roman"/>
            </a:endParaRPr>
          </a:p>
          <a:p>
            <a:pPr indent="0" lvl="0" marL="457200" marR="0" rtl="0" algn="l">
              <a:lnSpc>
                <a:spcPct val="150000"/>
              </a:lnSpc>
              <a:spcBef>
                <a:spcPts val="0"/>
              </a:spcBef>
              <a:spcAft>
                <a:spcPts val="0"/>
              </a:spcAft>
              <a:buNone/>
            </a:pPr>
            <a:r>
              <a:rPr b="1" lang="en" sz="4550">
                <a:latin typeface="Times New Roman"/>
                <a:ea typeface="Times New Roman"/>
                <a:cs typeface="Times New Roman"/>
                <a:sym typeface="Times New Roman"/>
              </a:rPr>
              <a:t>Reject H₀, </a:t>
            </a:r>
            <a:r>
              <a:rPr lang="en" sz="4550">
                <a:latin typeface="Times New Roman"/>
                <a:ea typeface="Times New Roman"/>
                <a:cs typeface="Times New Roman"/>
                <a:sym typeface="Times New Roman"/>
              </a:rPr>
              <a:t>Welch’s t-test shows mean blood pressure differs significantly between good and poor appetite groups.</a:t>
            </a:r>
            <a:endParaRPr sz="4550">
              <a:latin typeface="Times New Roman"/>
              <a:ea typeface="Times New Roman"/>
              <a:cs typeface="Times New Roman"/>
              <a:sym typeface="Times New Roman"/>
            </a:endParaRPr>
          </a:p>
          <a:p>
            <a:pPr indent="-300831" lvl="0" marL="457200" marR="0" rtl="0" algn="l">
              <a:lnSpc>
                <a:spcPct val="150000"/>
              </a:lnSpc>
              <a:spcBef>
                <a:spcPts val="0"/>
              </a:spcBef>
              <a:spcAft>
                <a:spcPts val="0"/>
              </a:spcAft>
              <a:buSzPct val="100000"/>
              <a:buFont typeface="Times New Roman"/>
              <a:buChar char="●"/>
            </a:pPr>
            <a:r>
              <a:rPr b="1" lang="en" sz="4550">
                <a:latin typeface="Times New Roman"/>
                <a:ea typeface="Times New Roman"/>
                <a:cs typeface="Times New Roman"/>
                <a:sym typeface="Times New Roman"/>
              </a:rPr>
              <a:t> Overall</a:t>
            </a:r>
            <a:endParaRPr b="1" sz="4550">
              <a:latin typeface="Times New Roman"/>
              <a:ea typeface="Times New Roman"/>
              <a:cs typeface="Times New Roman"/>
              <a:sym typeface="Times New Roman"/>
            </a:endParaRPr>
          </a:p>
          <a:p>
            <a:pPr indent="0" lvl="0" marL="457200" marR="0" rtl="0" algn="l">
              <a:lnSpc>
                <a:spcPct val="150000"/>
              </a:lnSpc>
              <a:spcBef>
                <a:spcPts val="0"/>
              </a:spcBef>
              <a:spcAft>
                <a:spcPts val="0"/>
              </a:spcAft>
              <a:buNone/>
            </a:pPr>
            <a:r>
              <a:rPr lang="en" sz="4550">
                <a:latin typeface="Times New Roman"/>
                <a:ea typeface="Times New Roman"/>
                <a:cs typeface="Times New Roman"/>
                <a:sym typeface="Times New Roman"/>
              </a:rPr>
              <a:t>The relationship between appetite and blood pressure appears partially stable, but its detectability is sensitive to both the level and mechanism of missingness, with </a:t>
            </a:r>
            <a:r>
              <a:rPr b="1" lang="en" sz="4550">
                <a:latin typeface="Times New Roman"/>
                <a:ea typeface="Times New Roman"/>
                <a:cs typeface="Times New Roman"/>
                <a:sym typeface="Times New Roman"/>
              </a:rPr>
              <a:t>KNN</a:t>
            </a:r>
            <a:r>
              <a:rPr lang="en" sz="4550">
                <a:latin typeface="Times New Roman"/>
                <a:ea typeface="Times New Roman"/>
                <a:cs typeface="Times New Roman"/>
                <a:sym typeface="Times New Roman"/>
              </a:rPr>
              <a:t> imputation performing well under low missing proportions but losing effectiveness as missingness increases.</a:t>
            </a:r>
            <a:endParaRPr sz="455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t/>
            </a:r>
            <a:endParaRPr sz="1200">
              <a:latin typeface="Times New Roman"/>
              <a:ea typeface="Times New Roman"/>
              <a:cs typeface="Times New Roman"/>
              <a:sym typeface="Times New Roman"/>
            </a:endParaRPr>
          </a:p>
        </p:txBody>
      </p:sp>
      <p:pic>
        <p:nvPicPr>
          <p:cNvPr id="178" name="Google Shape;178;p28"/>
          <p:cNvPicPr preferRelativeResize="0"/>
          <p:nvPr/>
        </p:nvPicPr>
        <p:blipFill>
          <a:blip r:embed="rId3">
            <a:alphaModFix/>
          </a:blip>
          <a:stretch>
            <a:fillRect/>
          </a:stretch>
        </p:blipFill>
        <p:spPr>
          <a:xfrm>
            <a:off x="133225" y="1147225"/>
            <a:ext cx="4250424" cy="3683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H₂: Result of Re-analysis Under MCAR &amp; MNAR</a:t>
            </a:r>
            <a:endParaRPr b="1" sz="3000"/>
          </a:p>
        </p:txBody>
      </p:sp>
      <p:sp>
        <p:nvSpPr>
          <p:cNvPr id="184" name="Google Shape;184;p29"/>
          <p:cNvSpPr txBox="1"/>
          <p:nvPr>
            <p:ph idx="4294967295" type="body"/>
          </p:nvPr>
        </p:nvSpPr>
        <p:spPr>
          <a:xfrm>
            <a:off x="4355200" y="1147225"/>
            <a:ext cx="4677600" cy="3871200"/>
          </a:xfrm>
          <a:prstGeom prst="rect">
            <a:avLst/>
          </a:prstGeom>
        </p:spPr>
        <p:txBody>
          <a:bodyPr anchorCtr="0" anchor="t" bIns="91425" lIns="91425" spcFirstLastPara="1" rIns="91425" wrap="square" tIns="91425">
            <a:noAutofit/>
          </a:bodyPr>
          <a:lstStyle/>
          <a:p>
            <a:pPr indent="-300831" lvl="0" marL="457200" rtl="0" algn="l">
              <a:lnSpc>
                <a:spcPct val="150000"/>
              </a:lnSpc>
              <a:spcBef>
                <a:spcPts val="0"/>
              </a:spcBef>
              <a:spcAft>
                <a:spcPts val="0"/>
              </a:spcAft>
              <a:buSzPts val="1138"/>
              <a:buChar char="●"/>
            </a:pPr>
            <a:r>
              <a:rPr b="1" lang="en" sz="1138"/>
              <a:t>Model Stability</a:t>
            </a:r>
            <a:endParaRPr b="1" sz="1138"/>
          </a:p>
          <a:p>
            <a:pPr indent="0" lvl="0" marL="457200" rtl="0" algn="l">
              <a:lnSpc>
                <a:spcPct val="150000"/>
              </a:lnSpc>
              <a:spcBef>
                <a:spcPts val="0"/>
              </a:spcBef>
              <a:spcAft>
                <a:spcPts val="0"/>
              </a:spcAft>
              <a:buSzPts val="275"/>
              <a:buNone/>
            </a:pPr>
            <a:r>
              <a:rPr lang="en" sz="938"/>
              <a:t>Three-variable logistic regression remains highly stable under all missing data settings (</a:t>
            </a:r>
            <a:r>
              <a:rPr b="1" lang="en" sz="938"/>
              <a:t>MCAR</a:t>
            </a:r>
            <a:r>
              <a:rPr lang="en" sz="938"/>
              <a:t> 10–50%, </a:t>
            </a:r>
            <a:r>
              <a:rPr b="1" lang="en" sz="938"/>
              <a:t>MNAR </a:t>
            </a:r>
            <a:r>
              <a:rPr lang="en" sz="938"/>
              <a:t>40%)</a:t>
            </a:r>
            <a:endParaRPr sz="938"/>
          </a:p>
          <a:p>
            <a:pPr indent="-300831" lvl="0" marL="457200" rtl="0" algn="l">
              <a:lnSpc>
                <a:spcPct val="150000"/>
              </a:lnSpc>
              <a:spcBef>
                <a:spcPts val="0"/>
              </a:spcBef>
              <a:spcAft>
                <a:spcPts val="0"/>
              </a:spcAft>
              <a:buSzPts val="1138"/>
              <a:buChar char="●"/>
            </a:pPr>
            <a:r>
              <a:rPr b="1" lang="en" sz="1138"/>
              <a:t>Predictive Performance</a:t>
            </a:r>
            <a:endParaRPr b="1" sz="1138"/>
          </a:p>
          <a:p>
            <a:pPr indent="0" lvl="0" marL="457200" rtl="0" algn="l">
              <a:lnSpc>
                <a:spcPct val="150000"/>
              </a:lnSpc>
              <a:spcBef>
                <a:spcPts val="0"/>
              </a:spcBef>
              <a:spcAft>
                <a:spcPts val="0"/>
              </a:spcAft>
              <a:buSzPts val="275"/>
              <a:buNone/>
            </a:pPr>
            <a:r>
              <a:rPr lang="en" sz="938"/>
              <a:t>1. </a:t>
            </a:r>
            <a:r>
              <a:rPr b="1" lang="en" sz="938"/>
              <a:t>Accuracy </a:t>
            </a:r>
            <a:r>
              <a:rPr lang="en" sz="938"/>
              <a:t>stays consistently 97.0%–98.7% and </a:t>
            </a:r>
            <a:r>
              <a:rPr b="1" lang="en" sz="938"/>
              <a:t>AUC</a:t>
            </a:r>
            <a:r>
              <a:rPr lang="en" sz="938"/>
              <a:t> remains 0.995–0.999, shows near-perfect discrimination between CKD and non-CKD cases.</a:t>
            </a:r>
            <a:endParaRPr sz="938"/>
          </a:p>
          <a:p>
            <a:pPr indent="0" lvl="0" marL="457200" rtl="0" algn="l">
              <a:lnSpc>
                <a:spcPct val="150000"/>
              </a:lnSpc>
              <a:spcBef>
                <a:spcPts val="0"/>
              </a:spcBef>
              <a:spcAft>
                <a:spcPts val="0"/>
              </a:spcAft>
              <a:buSzPts val="275"/>
              <a:buNone/>
            </a:pPr>
            <a:r>
              <a:rPr lang="en" sz="938"/>
              <a:t>2. </a:t>
            </a:r>
            <a:r>
              <a:rPr b="1" lang="en" sz="938"/>
              <a:t>Sensitivity</a:t>
            </a:r>
            <a:r>
              <a:rPr lang="en" sz="938"/>
              <a:t> and </a:t>
            </a:r>
            <a:r>
              <a:rPr b="1" lang="en" sz="938"/>
              <a:t>Specificity</a:t>
            </a:r>
            <a:r>
              <a:rPr lang="en" sz="938"/>
              <a:t> stay high and comparable to the original dataset, shows that the model continues to correctly identify both positive and negative cases even after substantial information loss.</a:t>
            </a:r>
            <a:endParaRPr sz="938"/>
          </a:p>
          <a:p>
            <a:pPr indent="0" lvl="0" marL="457200" rtl="0" algn="l">
              <a:lnSpc>
                <a:spcPct val="150000"/>
              </a:lnSpc>
              <a:spcBef>
                <a:spcPts val="0"/>
              </a:spcBef>
              <a:spcAft>
                <a:spcPts val="0"/>
              </a:spcAft>
              <a:buSzPts val="275"/>
              <a:buNone/>
            </a:pPr>
            <a:r>
              <a:rPr lang="en" sz="938"/>
              <a:t>3. </a:t>
            </a:r>
            <a:r>
              <a:rPr b="1" lang="en" sz="938"/>
              <a:t>Pseudo-R² </a:t>
            </a:r>
            <a:r>
              <a:rPr lang="en" sz="938"/>
              <a:t>values remain 0.90–0.93, showing strong and stable model fit</a:t>
            </a:r>
            <a:endParaRPr sz="938"/>
          </a:p>
          <a:p>
            <a:pPr indent="-300831" lvl="0" marL="457200" rtl="0" algn="l">
              <a:lnSpc>
                <a:spcPct val="150000"/>
              </a:lnSpc>
              <a:spcBef>
                <a:spcPts val="0"/>
              </a:spcBef>
              <a:spcAft>
                <a:spcPts val="0"/>
              </a:spcAft>
              <a:buSzPts val="1138"/>
              <a:buChar char="●"/>
            </a:pPr>
            <a:r>
              <a:rPr b="1" lang="en" sz="1138"/>
              <a:t>Overall</a:t>
            </a:r>
            <a:endParaRPr b="1" sz="1138"/>
          </a:p>
          <a:p>
            <a:pPr indent="0" lvl="0" marL="457200" rtl="0" algn="l">
              <a:lnSpc>
                <a:spcPct val="150000"/>
              </a:lnSpc>
              <a:spcBef>
                <a:spcPts val="0"/>
              </a:spcBef>
              <a:spcAft>
                <a:spcPts val="0"/>
              </a:spcAft>
              <a:buClr>
                <a:schemeClr val="dk1"/>
              </a:buClr>
              <a:buSzPts val="275"/>
              <a:buFont typeface="Arial"/>
              <a:buNone/>
            </a:pPr>
            <a:r>
              <a:rPr lang="en" sz="938"/>
              <a:t>Associations between bgr, hemo, sg and CKD status remain unchanged despite missingness </a:t>
            </a:r>
            <a:r>
              <a:rPr b="1" lang="en" sz="938"/>
              <a:t>KNN</a:t>
            </a:r>
            <a:r>
              <a:rPr lang="en" sz="938"/>
              <a:t> imputation effectively preserves data structure and supports accurate recovery of predictions</a:t>
            </a:r>
            <a:endParaRPr sz="938"/>
          </a:p>
        </p:txBody>
      </p:sp>
      <p:pic>
        <p:nvPicPr>
          <p:cNvPr id="185" name="Google Shape;185;p29"/>
          <p:cNvPicPr preferRelativeResize="0"/>
          <p:nvPr/>
        </p:nvPicPr>
        <p:blipFill>
          <a:blip r:embed="rId3">
            <a:alphaModFix/>
          </a:blip>
          <a:stretch>
            <a:fillRect/>
          </a:stretch>
        </p:blipFill>
        <p:spPr>
          <a:xfrm>
            <a:off x="152400" y="3145775"/>
            <a:ext cx="4272526" cy="1911475"/>
          </a:xfrm>
          <a:prstGeom prst="rect">
            <a:avLst/>
          </a:prstGeom>
          <a:noFill/>
          <a:ln>
            <a:noFill/>
          </a:ln>
        </p:spPr>
      </p:pic>
      <p:pic>
        <p:nvPicPr>
          <p:cNvPr id="186" name="Google Shape;186;p29"/>
          <p:cNvPicPr preferRelativeResize="0"/>
          <p:nvPr/>
        </p:nvPicPr>
        <p:blipFill>
          <a:blip r:embed="rId4">
            <a:alphaModFix/>
          </a:blip>
          <a:stretch>
            <a:fillRect/>
          </a:stretch>
        </p:blipFill>
        <p:spPr>
          <a:xfrm>
            <a:off x="311700" y="1189225"/>
            <a:ext cx="4003076" cy="1914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Summary of Key Results From H₁ and H₂ Analyses</a:t>
            </a:r>
            <a:endParaRPr b="1" sz="3000"/>
          </a:p>
        </p:txBody>
      </p:sp>
      <p:sp>
        <p:nvSpPr>
          <p:cNvPr id="192" name="Google Shape;192;p30"/>
          <p:cNvSpPr txBox="1"/>
          <p:nvPr/>
        </p:nvSpPr>
        <p:spPr>
          <a:xfrm>
            <a:off x="724950" y="1310100"/>
            <a:ext cx="7948200" cy="36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This project </a:t>
            </a:r>
            <a:r>
              <a:rPr lang="en">
                <a:solidFill>
                  <a:schemeClr val="dk1"/>
                </a:solidFill>
                <a:latin typeface="Open Sans"/>
                <a:ea typeface="Open Sans"/>
                <a:cs typeface="Open Sans"/>
                <a:sym typeface="Open Sans"/>
              </a:rPr>
              <a:t>analyzes</a:t>
            </a:r>
            <a:r>
              <a:rPr lang="en">
                <a:solidFill>
                  <a:schemeClr val="dk1"/>
                </a:solidFill>
                <a:latin typeface="Open Sans"/>
                <a:ea typeface="Open Sans"/>
                <a:cs typeface="Open Sans"/>
                <a:sym typeface="Open Sans"/>
              </a:rPr>
              <a:t> a </a:t>
            </a:r>
            <a:r>
              <a:rPr lang="en">
                <a:solidFill>
                  <a:schemeClr val="dk1"/>
                </a:solidFill>
                <a:latin typeface="Open Sans"/>
                <a:ea typeface="Open Sans"/>
                <a:cs typeface="Open Sans"/>
                <a:sym typeface="Open Sans"/>
              </a:rPr>
              <a:t>chronic</a:t>
            </a:r>
            <a:r>
              <a:rPr lang="en">
                <a:solidFill>
                  <a:schemeClr val="dk1"/>
                </a:solidFill>
                <a:latin typeface="Open Sans"/>
                <a:ea typeface="Open Sans"/>
                <a:cs typeface="Open Sans"/>
                <a:sym typeface="Open Sans"/>
              </a:rPr>
              <a:t> kidney disease(CKD) dataset containing 400 patients and 25 variables from the UCI Machine Learning Repository. The study evaluates the following two primary hypotheses：</a:t>
            </a:r>
            <a:endParaRPr>
              <a:solidFill>
                <a:schemeClr val="dk1"/>
              </a:solidFill>
              <a:latin typeface="Open Sans"/>
              <a:ea typeface="Open Sans"/>
              <a:cs typeface="Open Sans"/>
              <a:sym typeface="Open Sans"/>
            </a:endParaRPr>
          </a:p>
          <a:p>
            <a:pPr indent="0" lvl="0" marL="457200" rtl="0" algn="l">
              <a:spcBef>
                <a:spcPts val="0"/>
              </a:spcBef>
              <a:spcAft>
                <a:spcPts val="0"/>
              </a:spcAft>
              <a:buNone/>
            </a:pPr>
            <a:r>
              <a:t/>
            </a:r>
            <a:endParaRPr>
              <a:solidFill>
                <a:schemeClr val="dk1"/>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Open Sans"/>
                <a:ea typeface="Open Sans"/>
                <a:cs typeface="Open Sans"/>
                <a:sym typeface="Open Sans"/>
              </a:rPr>
              <a:t>H1 examined the difference in means between blood pressure and appetite.  F-tests and Welch’s t-test were performed. The result shows </a:t>
            </a:r>
            <a:r>
              <a:rPr lang="en">
                <a:solidFill>
                  <a:schemeClr val="dk1"/>
                </a:solidFill>
                <a:latin typeface="Open Sans"/>
                <a:ea typeface="Open Sans"/>
                <a:cs typeface="Open Sans"/>
                <a:sym typeface="Open Sans"/>
              </a:rPr>
              <a:t>mean blood pressure differs significantly between good and poor appetite groups.</a:t>
            </a:r>
            <a:endParaRPr>
              <a:solidFill>
                <a:schemeClr val="dk1"/>
              </a:solidFill>
              <a:latin typeface="Open Sans"/>
              <a:ea typeface="Open Sans"/>
              <a:cs typeface="Open Sans"/>
              <a:sym typeface="Open Sans"/>
            </a:endParaRPr>
          </a:p>
          <a:p>
            <a:pPr indent="0" lvl="0" marL="457200" rtl="0" algn="l">
              <a:spcBef>
                <a:spcPts val="0"/>
              </a:spcBef>
              <a:spcAft>
                <a:spcPts val="0"/>
              </a:spcAft>
              <a:buNone/>
            </a:pPr>
            <a:r>
              <a:t/>
            </a:r>
            <a:endParaRPr>
              <a:solidFill>
                <a:schemeClr val="dk1"/>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Open Sans"/>
                <a:ea typeface="Open Sans"/>
                <a:cs typeface="Open Sans"/>
                <a:sym typeface="Open Sans"/>
              </a:rPr>
              <a:t>H2 predicted CKD by constructing a multivariate logistic regression model.  After </a:t>
            </a:r>
            <a:r>
              <a:rPr lang="en">
                <a:solidFill>
                  <a:schemeClr val="dk1"/>
                </a:solidFill>
                <a:latin typeface="Open Sans"/>
                <a:ea typeface="Open Sans"/>
                <a:cs typeface="Open Sans"/>
                <a:sym typeface="Open Sans"/>
              </a:rPr>
              <a:t>utilizing</a:t>
            </a:r>
            <a:r>
              <a:rPr lang="en">
                <a:solidFill>
                  <a:schemeClr val="dk1"/>
                </a:solidFill>
                <a:latin typeface="Open Sans"/>
                <a:ea typeface="Open Sans"/>
                <a:cs typeface="Open Sans"/>
                <a:sym typeface="Open Sans"/>
              </a:rPr>
              <a:t> dummy encoding, KNN imputation, VIF screening, and backward </a:t>
            </a:r>
            <a:r>
              <a:rPr lang="en">
                <a:solidFill>
                  <a:schemeClr val="dk1"/>
                </a:solidFill>
                <a:latin typeface="Open Sans"/>
                <a:ea typeface="Open Sans"/>
                <a:cs typeface="Open Sans"/>
                <a:sym typeface="Open Sans"/>
              </a:rPr>
              <a:t>stepwise</a:t>
            </a:r>
            <a:r>
              <a:rPr lang="en">
                <a:solidFill>
                  <a:schemeClr val="dk1"/>
                </a:solidFill>
                <a:latin typeface="Open Sans"/>
                <a:ea typeface="Open Sans"/>
                <a:cs typeface="Open Sans"/>
                <a:sym typeface="Open Sans"/>
              </a:rPr>
              <a:t> selection and albumin was removed due to quasi-complete separation.  The final logistic regression model retained three predictors—bgr, hemo, and sg—and achieved 96.3% accuracy and an AUC of 0.993, demonstrating </a:t>
            </a:r>
            <a:r>
              <a:rPr lang="en">
                <a:solidFill>
                  <a:schemeClr val="dk1"/>
                </a:solidFill>
                <a:latin typeface="Open Sans"/>
                <a:ea typeface="Open Sans"/>
                <a:cs typeface="Open Sans"/>
                <a:sym typeface="Open Sans"/>
              </a:rPr>
              <a:t>near-perfect discrimination between CKD and non-CKD cases. This shows the three predictors has significant impact on determine the CKD outcomes. </a:t>
            </a:r>
            <a:endParaRPr>
              <a:solidFill>
                <a:schemeClr val="dk1"/>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2800">
                <a:solidFill>
                  <a:schemeClr val="dk1"/>
                </a:solidFill>
              </a:rPr>
              <a:t>Impact of Missingness on Statistical and Predictive Validity</a:t>
            </a:r>
            <a:endParaRPr sz="3000"/>
          </a:p>
        </p:txBody>
      </p:sp>
      <p:sp>
        <p:nvSpPr>
          <p:cNvPr id="198" name="Google Shape;198;p31"/>
          <p:cNvSpPr txBox="1"/>
          <p:nvPr/>
        </p:nvSpPr>
        <p:spPr>
          <a:xfrm>
            <a:off x="175250" y="1319725"/>
            <a:ext cx="4174500" cy="3417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Open Sans"/>
              <a:buChar char="●"/>
            </a:pPr>
            <a:r>
              <a:rPr b="1" lang="en">
                <a:latin typeface="Open Sans"/>
                <a:ea typeface="Open Sans"/>
                <a:cs typeface="Open Sans"/>
                <a:sym typeface="Open Sans"/>
              </a:rPr>
              <a:t>For H₁</a:t>
            </a:r>
            <a:r>
              <a:rPr lang="en">
                <a:latin typeface="Open Sans"/>
                <a:ea typeface="Open Sans"/>
                <a:cs typeface="Open Sans"/>
                <a:sym typeface="Open Sans"/>
              </a:rPr>
              <a:t>, the impact of missingness was substantial: the </a:t>
            </a:r>
            <a:r>
              <a:rPr lang="en">
                <a:latin typeface="Open Sans"/>
                <a:ea typeface="Open Sans"/>
                <a:cs typeface="Open Sans"/>
                <a:sym typeface="Open Sans"/>
              </a:rPr>
              <a:t>Welch’s </a:t>
            </a:r>
            <a:r>
              <a:rPr lang="en">
                <a:latin typeface="Open Sans"/>
                <a:ea typeface="Open Sans"/>
                <a:cs typeface="Open Sans"/>
                <a:sym typeface="Open Sans"/>
              </a:rPr>
              <a:t>t-test remained  </a:t>
            </a:r>
            <a:r>
              <a:rPr lang="en">
                <a:latin typeface="Open Sans"/>
                <a:ea typeface="Open Sans"/>
                <a:cs typeface="Open Sans"/>
                <a:sym typeface="Open Sans"/>
              </a:rPr>
              <a:t>mean blood pressure differs significantly between good and poor appetite groups. u</a:t>
            </a:r>
            <a:r>
              <a:rPr lang="en">
                <a:latin typeface="Open Sans"/>
                <a:ea typeface="Open Sans"/>
                <a:cs typeface="Open Sans"/>
                <a:sym typeface="Open Sans"/>
              </a:rPr>
              <a:t>nder 10–20% MCAR and 40% MNAR but lost significance once missingness reached 30–50%, highlighting how sensitive simple univariate comparisons are to random data loss.</a:t>
            </a:r>
            <a:endParaRPr>
              <a:latin typeface="Open Sans"/>
              <a:ea typeface="Open Sans"/>
              <a:cs typeface="Open Sans"/>
              <a:sym typeface="Open Sans"/>
            </a:endParaRPr>
          </a:p>
          <a:p>
            <a:pPr indent="0" lvl="0" marL="457200" rtl="0" algn="l">
              <a:spcBef>
                <a:spcPts val="0"/>
              </a:spcBef>
              <a:spcAft>
                <a:spcPts val="0"/>
              </a:spcAft>
              <a:buNone/>
            </a:pPr>
            <a:r>
              <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b="1" lang="en">
                <a:latin typeface="Open Sans"/>
                <a:ea typeface="Open Sans"/>
                <a:cs typeface="Open Sans"/>
                <a:sym typeface="Open Sans"/>
              </a:rPr>
              <a:t>For H₂</a:t>
            </a:r>
            <a:r>
              <a:rPr lang="en">
                <a:latin typeface="Open Sans"/>
                <a:ea typeface="Open Sans"/>
                <a:cs typeface="Open Sans"/>
                <a:sym typeface="Open Sans"/>
              </a:rPr>
              <a:t>, logistic regression showed strong robustness, its accuracy, AUC, and pseudo-R² remained stable across all MCAR and MNAR simulations, even with 50% MCAR and 40% MNAR. </a:t>
            </a:r>
            <a:endParaRPr>
              <a:latin typeface="Open Sans"/>
              <a:ea typeface="Open Sans"/>
              <a:cs typeface="Open Sans"/>
              <a:sym typeface="Open Sans"/>
            </a:endParaRPr>
          </a:p>
        </p:txBody>
      </p:sp>
      <p:sp>
        <p:nvSpPr>
          <p:cNvPr id="199" name="Google Shape;199;p31"/>
          <p:cNvSpPr txBox="1"/>
          <p:nvPr/>
        </p:nvSpPr>
        <p:spPr>
          <a:xfrm>
            <a:off x="4572000" y="1319725"/>
            <a:ext cx="4333200" cy="2986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a:latin typeface="Open Sans"/>
                <a:ea typeface="Open Sans"/>
                <a:cs typeface="Open Sans"/>
                <a:sym typeface="Open Sans"/>
              </a:rPr>
              <a:t>Summary: </a:t>
            </a:r>
            <a:endParaRPr b="1">
              <a:latin typeface="Open Sans"/>
              <a:ea typeface="Open Sans"/>
              <a:cs typeface="Open Sans"/>
              <a:sym typeface="Open Sans"/>
            </a:endParaRPr>
          </a:p>
          <a:p>
            <a:pPr indent="0" lvl="0" marL="457200" rtl="0" algn="l">
              <a:spcBef>
                <a:spcPts val="0"/>
              </a:spcBef>
              <a:spcAft>
                <a:spcPts val="0"/>
              </a:spcAft>
              <a:buNone/>
            </a:pPr>
            <a:r>
              <a:rPr lang="en">
                <a:latin typeface="Open Sans"/>
                <a:ea typeface="Open Sans"/>
                <a:cs typeface="Open Sans"/>
                <a:sym typeface="Open Sans"/>
              </a:rPr>
              <a:t>This reflects the strength of multivariate structure and the effectiveness of </a:t>
            </a:r>
            <a:r>
              <a:rPr b="1" lang="en">
                <a:latin typeface="Open Sans"/>
                <a:ea typeface="Open Sans"/>
                <a:cs typeface="Open Sans"/>
                <a:sym typeface="Open Sans"/>
              </a:rPr>
              <a:t>KNN </a:t>
            </a:r>
            <a:r>
              <a:rPr lang="en">
                <a:latin typeface="Open Sans"/>
                <a:ea typeface="Open Sans"/>
                <a:cs typeface="Open Sans"/>
                <a:sym typeface="Open Sans"/>
              </a:rPr>
              <a:t>imputation in preserving clinical relationships. </a:t>
            </a:r>
            <a:endParaRPr>
              <a:latin typeface="Open Sans"/>
              <a:ea typeface="Open Sans"/>
              <a:cs typeface="Open Sans"/>
              <a:sym typeface="Open Sans"/>
            </a:endParaRPr>
          </a:p>
          <a:p>
            <a:pPr indent="0" lvl="0" marL="457200" rtl="0" algn="l">
              <a:spcBef>
                <a:spcPts val="0"/>
              </a:spcBef>
              <a:spcAft>
                <a:spcPts val="0"/>
              </a:spcAft>
              <a:buNone/>
            </a:pPr>
            <a:r>
              <a:t/>
            </a:r>
            <a:endParaRPr>
              <a:latin typeface="Open Sans"/>
              <a:ea typeface="Open Sans"/>
              <a:cs typeface="Open Sans"/>
              <a:sym typeface="Open Sans"/>
            </a:endParaRPr>
          </a:p>
          <a:p>
            <a:pPr indent="0" lvl="0" marL="457200" rtl="0" algn="l">
              <a:spcBef>
                <a:spcPts val="0"/>
              </a:spcBef>
              <a:spcAft>
                <a:spcPts val="0"/>
              </a:spcAft>
              <a:buNone/>
            </a:pPr>
            <a:r>
              <a:rPr lang="en">
                <a:latin typeface="Open Sans"/>
                <a:ea typeface="Open Sans"/>
                <a:cs typeface="Open Sans"/>
                <a:sym typeface="Open Sans"/>
              </a:rPr>
              <a:t>Overall, missingness greatly affected the univariate hypothesis test but did not compromise the multivariable CKD prediction model, emphasizing the importance of choosing key variables and imputation methods that match the complexity of the clinical problem.</a:t>
            </a:r>
            <a:endParaRPr>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0" y="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t>Limitations, Practical Implications, and Future Work</a:t>
            </a:r>
            <a:endParaRPr b="1" sz="3000"/>
          </a:p>
        </p:txBody>
      </p:sp>
      <p:sp>
        <p:nvSpPr>
          <p:cNvPr id="205" name="Google Shape;205;p32"/>
          <p:cNvSpPr txBox="1"/>
          <p:nvPr>
            <p:ph idx="1" type="body"/>
          </p:nvPr>
        </p:nvSpPr>
        <p:spPr>
          <a:xfrm>
            <a:off x="0" y="739025"/>
            <a:ext cx="9085200" cy="44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t>Limitations</a:t>
            </a:r>
            <a:endParaRPr b="1" sz="1100"/>
          </a:p>
          <a:p>
            <a:pPr indent="-298450" lvl="0" marL="457200" rtl="0" algn="l">
              <a:spcBef>
                <a:spcPts val="0"/>
              </a:spcBef>
              <a:spcAft>
                <a:spcPts val="0"/>
              </a:spcAft>
              <a:buSzPts val="1100"/>
              <a:buFont typeface="Open Sans"/>
              <a:buChar char="●"/>
            </a:pPr>
            <a:r>
              <a:rPr lang="en" sz="1100"/>
              <a:t>Dataset size is modest (N=400) with a high CKD proportion, limiting generalizability and possibly inflating model performance.</a:t>
            </a:r>
            <a:endParaRPr sz="1100"/>
          </a:p>
          <a:p>
            <a:pPr indent="-298450" lvl="0" marL="457200" rtl="0" algn="l">
              <a:spcBef>
                <a:spcPts val="0"/>
              </a:spcBef>
              <a:spcAft>
                <a:spcPts val="0"/>
              </a:spcAft>
              <a:buSzPts val="1100"/>
              <a:buFont typeface="Open Sans"/>
              <a:buChar char="●"/>
            </a:pPr>
            <a:r>
              <a:rPr lang="en" sz="1100"/>
              <a:t>Missingness mechanisms are unknown; thus, MCAR/MNAR simulations rely on assumptions that may not fully match real clinical behavior.</a:t>
            </a:r>
            <a:endParaRPr sz="1100"/>
          </a:p>
          <a:p>
            <a:pPr indent="-298450" lvl="0" marL="457200" rtl="0" algn="l">
              <a:spcBef>
                <a:spcPts val="0"/>
              </a:spcBef>
              <a:spcAft>
                <a:spcPts val="0"/>
              </a:spcAft>
              <a:buSzPts val="1100"/>
              <a:buFont typeface="Open Sans"/>
              <a:buChar char="●"/>
            </a:pPr>
            <a:r>
              <a:rPr lang="en" sz="1100"/>
              <a:t>KNN imputation may reduce variability and perform poorly when predictors are highly correlated.</a:t>
            </a:r>
            <a:endParaRPr sz="1100"/>
          </a:p>
          <a:p>
            <a:pPr indent="-298450" lvl="0" marL="457200" rtl="0" algn="l">
              <a:spcBef>
                <a:spcPts val="0"/>
              </a:spcBef>
              <a:spcAft>
                <a:spcPts val="0"/>
              </a:spcAft>
              <a:buSzPts val="1100"/>
              <a:buFont typeface="Open Sans"/>
              <a:buChar char="●"/>
            </a:pPr>
            <a:r>
              <a:rPr lang="en" sz="1100"/>
              <a:t>Albumin showed quasi-complete separation and had to be removed, potentially introducing bias into other coefficient estimates.</a:t>
            </a:r>
            <a:endParaRPr sz="1100"/>
          </a:p>
          <a:p>
            <a:pPr indent="-298450" lvl="0" marL="457200" rtl="0" algn="l">
              <a:spcBef>
                <a:spcPts val="0"/>
              </a:spcBef>
              <a:spcAft>
                <a:spcPts val="0"/>
              </a:spcAft>
              <a:buSzPts val="1100"/>
              <a:buFont typeface="Open Sans"/>
              <a:buChar char="●"/>
            </a:pPr>
            <a:r>
              <a:rPr lang="en" sz="1100"/>
              <a:t>The modeling workflow (dummy encoding, VIF, stepwise AIC) improves structure but carries an inherent risk of overfitting.</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 sz="1100"/>
              <a:t>Practical Implications</a:t>
            </a:r>
            <a:endParaRPr b="1" sz="1100"/>
          </a:p>
          <a:p>
            <a:pPr indent="-298450" lvl="0" marL="457200" rtl="0" algn="l">
              <a:spcBef>
                <a:spcPts val="0"/>
              </a:spcBef>
              <a:spcAft>
                <a:spcPts val="0"/>
              </a:spcAft>
              <a:buSzPts val="1100"/>
              <a:buFont typeface="Open Sans"/>
              <a:buChar char="●"/>
            </a:pPr>
            <a:r>
              <a:rPr lang="en" sz="1100"/>
              <a:t>bgr, hemo, and sg consistently emerged as strong and stable predictors of CKD, showing robustness even under MCAR/MNAR missingness.</a:t>
            </a:r>
            <a:endParaRPr sz="1100"/>
          </a:p>
          <a:p>
            <a:pPr indent="-298450" lvl="0" marL="457200" rtl="0" algn="l">
              <a:spcBef>
                <a:spcPts val="0"/>
              </a:spcBef>
              <a:spcAft>
                <a:spcPts val="0"/>
              </a:spcAft>
              <a:buSzPts val="1100"/>
              <a:buFont typeface="Open Sans"/>
              <a:buChar char="●"/>
            </a:pPr>
            <a:r>
              <a:rPr lang="en" sz="1100"/>
              <a:t>H₁ results weakened significantly when MCAR exceeded 30%, highlighting the vulnerability of univariate tests to data loss.</a:t>
            </a:r>
            <a:endParaRPr sz="1100"/>
          </a:p>
          <a:p>
            <a:pPr indent="-298450" lvl="0" marL="457200" rtl="0" algn="l">
              <a:spcBef>
                <a:spcPts val="0"/>
              </a:spcBef>
              <a:spcAft>
                <a:spcPts val="0"/>
              </a:spcAft>
              <a:buSzPts val="1100"/>
              <a:buFont typeface="Open Sans"/>
              <a:buChar char="●"/>
            </a:pPr>
            <a:r>
              <a:rPr lang="en" sz="1100"/>
              <a:t>Real-world healthcare data often follow MNAR patterns, making more robust missing-data strategies essential for valid inference.</a:t>
            </a:r>
            <a:endParaRPr sz="1100"/>
          </a:p>
          <a:p>
            <a:pPr indent="-298450" lvl="0" marL="457200" rtl="0" algn="l">
              <a:spcBef>
                <a:spcPts val="0"/>
              </a:spcBef>
              <a:spcAft>
                <a:spcPts val="0"/>
              </a:spcAft>
              <a:buSzPts val="1100"/>
              <a:buFont typeface="Open Sans"/>
              <a:buChar char="●"/>
            </a:pPr>
            <a:r>
              <a:rPr lang="en" sz="1100"/>
              <a:t>Multivariable modeling captures clinical structure more effectively and remains reliable even with substantial missingness.</a:t>
            </a:r>
            <a:endParaRPr sz="1100"/>
          </a:p>
          <a:p>
            <a:pPr indent="0" lvl="0" marL="457200" rtl="0" algn="l">
              <a:spcBef>
                <a:spcPts val="0"/>
              </a:spcBef>
              <a:spcAft>
                <a:spcPts val="0"/>
              </a:spcAft>
              <a:buNone/>
            </a:pPr>
            <a:r>
              <a:t/>
            </a:r>
            <a:endParaRPr sz="1100"/>
          </a:p>
          <a:p>
            <a:pPr indent="0" lvl="0" marL="0" rtl="0" algn="l">
              <a:spcBef>
                <a:spcPts val="0"/>
              </a:spcBef>
              <a:spcAft>
                <a:spcPts val="0"/>
              </a:spcAft>
              <a:buNone/>
            </a:pPr>
            <a:r>
              <a:rPr b="1" lang="en" sz="1100"/>
              <a:t>Future Work</a:t>
            </a:r>
            <a:endParaRPr b="1" sz="1100"/>
          </a:p>
          <a:p>
            <a:pPr indent="-298450" lvl="0" marL="457200" rtl="0" algn="l">
              <a:spcBef>
                <a:spcPts val="0"/>
              </a:spcBef>
              <a:spcAft>
                <a:spcPts val="0"/>
              </a:spcAft>
              <a:buSzPts val="1100"/>
              <a:buFont typeface="Open Sans"/>
              <a:buChar char="●"/>
            </a:pPr>
            <a:r>
              <a:rPr lang="en" sz="1100"/>
              <a:t>Validate the model using larger external datasets to confirm generalizability.</a:t>
            </a:r>
            <a:endParaRPr sz="1100"/>
          </a:p>
          <a:p>
            <a:pPr indent="-298450" lvl="0" marL="457200" rtl="0" algn="l">
              <a:spcBef>
                <a:spcPts val="0"/>
              </a:spcBef>
              <a:spcAft>
                <a:spcPts val="0"/>
              </a:spcAft>
              <a:buSzPts val="1100"/>
              <a:buFont typeface="Open Sans"/>
              <a:buChar char="●"/>
            </a:pPr>
            <a:r>
              <a:rPr lang="en" sz="1100"/>
              <a:t>Incorporate advanced missing-data methods (multiple imputation, pattern-mixture, selection models) to better reflect complex clinical patterns.</a:t>
            </a:r>
            <a:endParaRPr sz="1100"/>
          </a:p>
          <a:p>
            <a:pPr indent="-298450" lvl="0" marL="457200" rtl="0" algn="l">
              <a:spcBef>
                <a:spcPts val="0"/>
              </a:spcBef>
              <a:spcAft>
                <a:spcPts val="0"/>
              </a:spcAft>
              <a:buSzPts val="1100"/>
              <a:buFont typeface="Open Sans"/>
              <a:buChar char="●"/>
            </a:pPr>
            <a:r>
              <a:rPr lang="en" sz="1100"/>
              <a:t>Address albumin separation through methods such as Firth or Bayesian logistic regression.</a:t>
            </a:r>
            <a:endParaRPr sz="1100"/>
          </a:p>
          <a:p>
            <a:pPr indent="-298450" lvl="0" marL="457200" rtl="0" algn="l">
              <a:spcBef>
                <a:spcPts val="0"/>
              </a:spcBef>
              <a:spcAft>
                <a:spcPts val="0"/>
              </a:spcAft>
              <a:buSzPts val="1100"/>
              <a:buFont typeface="Open Sans"/>
              <a:buChar char="●"/>
            </a:pPr>
            <a:r>
              <a:rPr lang="en" sz="1100"/>
              <a:t>Explore regularized and nonlinear modeling approaches (LASSO/Elastic Net, GAM, tree-based models) to enhance stability and capture richer relationships.</a:t>
            </a:r>
            <a:endParaRPr b="1" sz="1100"/>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